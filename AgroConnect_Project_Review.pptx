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panel members and my project guide Ms. Sona Maria Sebastian. I am Prince Abraham Shaji, registration number AJC25MCA-2051. Today, I present AgroConnect — an AI-powered agricultural social platform and tele-consultation system engineered to bridge the gap between farmers, agronomists, and regional knowledge.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why AgroConnect is needed, consider the daily reality of a farmer in Kerala. When a fungal target spot appears on tomato leaves or rubber tree leaf fall occurs, the farmer has four major problems: 1) Unverified WhatsApp advice, 2) Delay in identifying plant diseases, 3) Inability to reach qualified agronomists, and 4) No accountable digital scheduling. This causes substantial economic crop loss.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can't farmers simply use existing tools? General social networks are filled with noise and unverified advice. Standalone AI scanning apps give a probability score but provide no verified human agronomist to confirm it or prescribe treatments. AgroConnect uniquely brings peer community, instant AI triage, and real-time agronomist video appointments into one unified, governed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introduce AgroConnect. Built as an Android mobile app and web administration dashboard, it is structured around four primary pillars: 1) District-prioritized community feeds, 2) PEA, our AI agricultural assistant, 3) Catch Up expert consultation scheduling, and 4) An administrative oversight engine ensuring platform credibility.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AgroConnect implements strict Role-Based Access Control enforced at the database level via PostgreSQL Row Level Security. Farmers interact with peers, consult PEA AI, and book experts. Experts manage their availability calendar, charge transparent fees, and join video calls. Administrators supervise the system, verify agronomist degrees, and handle cancellations and dispute refunds.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see the onboarding process. Farmers can register using standard credentials or Google OAuth. Crucially, instead of invasive continuous GPS tracking, we let farmers choose their district among four initial regions in Kerala: Kannur, Pathanamthitta, Idukki, and Kottayam. This district selection drives our smart localized recommendation engine.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shows our district-first feed algorithm in action. Agricultural advice is climate-dependent — weather in Idukki is vastly different from Kannur. Our database query automatically prioritizes posts authored within the farmer's registered district, ensuring that immediate disease warnings and local market shifts appear right at the top.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photos often fail to capture agricultural problems like insect infestations. AgroConnect supports embedded video walkthroughs directly inside feed cards, as shown on the right. Storage policies prevent anonymous listing, and all media is streamed efficiently over standard HTML5 video.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introduces PEA, our interactive AI farming assistant. Accessible with one tap from the header, PEA provides immediate first-line answers. Farmers who may not know technical pathogen names can ask in plain language, and PEA returns structured advice on organic farming, biological treatments, and soil health.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details our plant pathology triage workflow. Rather than functioning as an unguided black-box diagnosis, AgroConnect combines symptom matching with concrete agronomic recommendations (biological controls and 3-year crop rotation). If a condition is severe, it smoothly directs the farmer to human agronomist consultations.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Slide 11, we explore our 'Catch Up' expert scheduling module. Farmers browse certified agronomists by district, view transparent fees, and select calendar dates. When an appointment slot is picked, PostgreSQL atomic transactions guarantee that no two farmers can book the same slot simultaneously.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Fairness and financial trust are vital for rural adoption. Slide 12 displays our booking cancellation logic, fully executed on the PostgreSQL server. We implement a strict 14-hour threshold: cancelling early gives a 100% refund. Late cancellations give 50% to the expert for reserved time. If an expert no-shows, the farmer is refunded 100%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Rather than relying on proprietary embedded videoSDKs that strain rural bandwidth and inflate hosting bills, AgroConnect integrates standard Google Meet links. The server enforces join timing: the link is concealed until 5 minutes before the call, opening directly in the phone's native Google Meet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Slide 14, we examine our messaging architecture. To protect agronomists and farmers from unsolicited harassment, we enforce a two-tier message request system. Unconnected users land in requests. Once accepted, they move smoothly into the main conversation list. All messages are handled via PostgreSQL RPCs, preventing direct table manipulation.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critical differentiator for AgroConnect is trust. Anyone can claim to be an agronomist on social media. On AgroConnect, an expert must upload their educational degree and professional CV in PDF format. The CV bucket is private; only verified administrators can view it, preventing fake agronomists from misleading farmers.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presents the Admin Dashboard. Built with React and Tailwind CSS and hosted on Render, it allows administrators to inspect user accounts, process expert applications, audit consultations, and broadcast emergency agricultural announcements across districts.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illustrates how all modules form a single connected journey: A farmer registers and sets their district; browses local advice and consults PEA AI; if an issue requires human diagnosis, books an agronomist; meets securely on Google Meet; and finishes with transparent ratings and automated transaction auditing.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complete architectural stack. The client tier uses React 18 packaged with Capacitor into an Android APK. The web admin dashboard runs on Render Static Cloud. The backend is powered by Supabase with PostgreSQL, enforcing all business logic via PL/pgSQL stored procedures and Row Level Security.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Verification is evidence-based, not assumed. We executed 115 database integration tests with 100% pass rates, verifying atomic slot reservations and financial refund rules. Browser E2E tests verified key hardening, and we successfully installed and verified the native build on a physical Android 16 device.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AgroConnect delivers a cohesive, verified digital platform connecting farmers with certified agronomists and AI insights. Future enhancements will introduce computer vision on-device leaf scanning and Malayalam voice queries. Thank you to the panel and my guide Ms. Sona Maria Sebastian. I now invite your questions and feedback.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B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731520"/>
            <a:ext cx="73152" cy="36576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731520"/>
            <a:ext cx="5303520" cy="2011680"/>
          </a:xfrm>
          <a:prstGeom prst="rect">
            <a:avLst/>
          </a:prstGeom>
          <a:noFill/>
        </p:spPr>
        <p:txBody>
          <a:bodyPr wrap="square" lIns="0" rIns="0" tIns="0" bIns="0">
            <a:spAutoFit/>
          </a:bodyPr>
          <a:lstStyle/>
          <a:p>
            <a:pPr>
              <a:defRPr sz="1100" b="1">
                <a:solidFill>
                  <a:srgbClr val="38A3E8"/>
                </a:solidFill>
                <a:latin typeface="Arial"/>
              </a:defRPr>
            </a:pPr>
            <a:r>
              <a:t>MCA PROJECT REVIEW  ·  PHASE 1</a:t>
            </a:r>
          </a:p>
          <a:p>
            <a:pPr>
              <a:spcBef>
                <a:spcPts val="800"/>
              </a:spcBef>
              <a:defRPr sz="4600" b="1">
                <a:solidFill>
                  <a:srgbClr val="F2F5F7"/>
                </a:solidFill>
                <a:latin typeface="Arial"/>
              </a:defRPr>
            </a:pPr>
            <a:r>
              <a:t>AgroConnect</a:t>
            </a:r>
          </a:p>
          <a:p>
            <a:pPr>
              <a:spcBef>
                <a:spcPts val="600"/>
              </a:spcBef>
              <a:defRPr sz="1400">
                <a:solidFill>
                  <a:srgbClr val="2ECC71"/>
                </a:solidFill>
                <a:latin typeface="Arial"/>
              </a:defRPr>
            </a:pPr>
            <a:r>
              <a:t>AI-Assisted Agricultural Community, Crop Health Diagnostics &amp; Tele-Consultation Ecosystem</a:t>
            </a:r>
          </a:p>
        </p:txBody>
      </p:sp>
      <p:sp>
        <p:nvSpPr>
          <p:cNvPr id="5" name="Rounded Rectangle 4"/>
          <p:cNvSpPr/>
          <p:nvPr/>
        </p:nvSpPr>
        <p:spPr>
          <a:xfrm>
            <a:off x="822960" y="2926080"/>
            <a:ext cx="5029200" cy="1463040"/>
          </a:xfrm>
          <a:prstGeom prst="roundRect">
            <a:avLst/>
          </a:prstGeom>
          <a:solidFill>
            <a:srgbClr val="151F2B"/>
          </a:solidFill>
          <a:ln w="12700">
            <a:solidFill>
              <a:srgbClr val="2A3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3017520"/>
            <a:ext cx="4663440" cy="1280160"/>
          </a:xfrm>
          <a:prstGeom prst="rect">
            <a:avLst/>
          </a:prstGeom>
          <a:noFill/>
        </p:spPr>
        <p:txBody>
          <a:bodyPr wrap="square" lIns="0" rIns="0" tIns="0" bIns="0">
            <a:spAutoFit/>
          </a:bodyPr>
          <a:lstStyle/>
          <a:p>
            <a:pPr>
              <a:defRPr sz="1600" b="1">
                <a:solidFill>
                  <a:srgbClr val="F2F5F7"/>
                </a:solidFill>
                <a:latin typeface="Arial"/>
              </a:defRPr>
            </a:pPr>
            <a:r>
              <a:t>Prince Abraham Shaji</a:t>
            </a:r>
          </a:p>
          <a:p>
            <a:pPr>
              <a:spcBef>
                <a:spcPts val="300"/>
              </a:spcBef>
              <a:defRPr sz="1150">
                <a:solidFill>
                  <a:srgbClr val="B7C4D0"/>
                </a:solidFill>
                <a:latin typeface="Arial"/>
              </a:defRPr>
            </a:pPr>
            <a:r>
              <a:t>Reg. No: AJC25MCA-2051   ·   MCA 2025–2027</a:t>
            </a:r>
          </a:p>
          <a:p>
            <a:pPr>
              <a:spcBef>
                <a:spcPts val="300"/>
              </a:spcBef>
              <a:defRPr sz="1150" b="1">
                <a:solidFill>
                  <a:srgbClr val="38A3E8"/>
                </a:solidFill>
                <a:latin typeface="Arial"/>
              </a:defRPr>
            </a:pPr>
            <a:r>
              <a:t>Project Guide: Ms. Sona Maria Sebastian</a:t>
            </a:r>
          </a:p>
          <a:p>
            <a:pPr>
              <a:spcBef>
                <a:spcPts val="300"/>
              </a:spcBef>
              <a:defRPr sz="1050">
                <a:solidFill>
                  <a:srgbClr val="788CA0"/>
                </a:solidFill>
                <a:latin typeface="Arial"/>
              </a:defRPr>
            </a:pPr>
            <a:r>
              <a:t>Amal Jyothi College of Engineering (Autonomous), Kanjirappally</a:t>
            </a:r>
          </a:p>
        </p:txBody>
      </p:sp>
      <p:sp>
        <p:nvSpPr>
          <p:cNvPr id="7" name="Rounded Rectangle 6"/>
          <p:cNvSpPr/>
          <p:nvPr/>
        </p:nvSpPr>
        <p:spPr>
          <a:xfrm>
            <a:off x="6489783" y="512064"/>
            <a:ext cx="1833713" cy="4005072"/>
          </a:xfrm>
          <a:prstGeom prst="roundRect">
            <a:avLst/>
          </a:prstGeom>
          <a:solidFill>
            <a:srgbClr val="101822"/>
          </a:solidFill>
          <a:ln w="12700">
            <a:solidFill>
              <a:srgbClr val="38A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plash_screen.png"/>
          <p:cNvPicPr>
            <a:picLocks noChangeAspect="1"/>
          </p:cNvPicPr>
          <p:nvPr/>
        </p:nvPicPr>
        <p:blipFill>
          <a:blip r:embed="rId2"/>
          <a:stretch>
            <a:fillRect/>
          </a:stretch>
        </p:blipFill>
        <p:spPr>
          <a:xfrm>
            <a:off x="6526359" y="548640"/>
            <a:ext cx="1760561" cy="3931920"/>
          </a:xfrm>
          <a:prstGeom prst="rect">
            <a:avLst/>
          </a:prstGeom>
        </p:spPr>
      </p:pic>
      <p:sp>
        <p:nvSpPr>
          <p:cNvPr id="9" name="TextBox 8"/>
          <p:cNvSpPr txBox="1"/>
          <p:nvPr/>
        </p:nvSpPr>
        <p:spPr>
          <a:xfrm>
            <a:off x="6217920" y="4535424"/>
            <a:ext cx="2377440" cy="320040"/>
          </a:xfrm>
          <a:prstGeom prst="rect">
            <a:avLst/>
          </a:prstGeom>
          <a:noFill/>
        </p:spPr>
        <p:txBody>
          <a:bodyPr wrap="square" lIns="0" rIns="0" tIns="0" bIns="0">
            <a:spAutoFit/>
          </a:bodyPr>
          <a:lstStyle/>
          <a:p>
            <a:pPr algn="ctr">
              <a:defRPr sz="850" i="1">
                <a:solidFill>
                  <a:srgbClr val="B7C4D0"/>
                </a:solidFill>
                <a:latin typeface="Arial"/>
              </a:defRPr>
            </a:pPr>
            <a:r>
              <a:t>AgroConnect Mobile Native Client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B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046720" cy="228600"/>
          </a:xfrm>
          <a:prstGeom prst="rect">
            <a:avLst/>
          </a:prstGeom>
          <a:noFill/>
        </p:spPr>
        <p:txBody>
          <a:bodyPr wrap="square" lIns="0" rIns="0" tIns="0" bIns="0">
            <a:spAutoFit/>
          </a:bodyPr>
          <a:lstStyle/>
          <a:p>
            <a:pPr>
              <a:defRPr sz="950" b="1">
                <a:solidFill>
                  <a:srgbClr val="38A3E8"/>
                </a:solidFill>
                <a:latin typeface="Arial"/>
              </a:defRPr>
            </a:pPr>
            <a:r>
              <a:t>PROBLEM ANALYSIS</a:t>
            </a:r>
          </a:p>
        </p:txBody>
      </p:sp>
      <p:sp>
        <p:nvSpPr>
          <p:cNvPr id="4" name="TextBox 3"/>
          <p:cNvSpPr txBox="1"/>
          <p:nvPr/>
        </p:nvSpPr>
        <p:spPr>
          <a:xfrm>
            <a:off x="548640" y="585216"/>
            <a:ext cx="8046720" cy="502920"/>
          </a:xfrm>
          <a:prstGeom prst="rect">
            <a:avLst/>
          </a:prstGeom>
          <a:noFill/>
        </p:spPr>
        <p:txBody>
          <a:bodyPr wrap="square" lIns="0" rIns="0" tIns="0" bIns="0">
            <a:spAutoFit/>
          </a:bodyPr>
          <a:lstStyle/>
          <a:p>
            <a:pPr>
              <a:defRPr sz="2200" b="1">
                <a:solidFill>
                  <a:srgbClr val="F2F5F7"/>
                </a:solidFill>
                <a:latin typeface="Arial"/>
              </a:defRPr>
            </a:pPr>
            <a:r>
              <a:t>Critical Challenges in Farmer Information Access</a:t>
            </a:r>
          </a:p>
        </p:txBody>
      </p:sp>
      <p:sp>
        <p:nvSpPr>
          <p:cNvPr id="5" name="Rectangle 4"/>
          <p:cNvSpPr/>
          <p:nvPr/>
        </p:nvSpPr>
        <p:spPr>
          <a:xfrm>
            <a:off x="548640" y="4709160"/>
            <a:ext cx="8046720" cy="13716"/>
          </a:xfrm>
          <a:prstGeom prst="rect">
            <a:avLst/>
          </a:prstGeom>
          <a:solidFill>
            <a:srgbClr val="2A3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4754880"/>
            <a:ext cx="6858000" cy="274320"/>
          </a:xfrm>
          <a:prstGeom prst="rect">
            <a:avLst/>
          </a:prstGeom>
          <a:noFill/>
        </p:spPr>
        <p:txBody>
          <a:bodyPr wrap="none" lIns="0" rIns="0" tIns="0" bIns="0">
            <a:spAutoFit/>
          </a:bodyPr>
          <a:lstStyle/>
          <a:p>
            <a:pPr>
              <a:defRPr sz="850">
                <a:solidFill>
                  <a:srgbClr val="788CA0"/>
                </a:solidFill>
                <a:latin typeface="Arial"/>
              </a:defRPr>
            </a:pPr>
            <a:r>
              <a:t>AGROCONNECT  ·  MCA PROJECT REVIEW</a:t>
            </a:r>
          </a:p>
        </p:txBody>
      </p:sp>
      <p:sp>
        <p:nvSpPr>
          <p:cNvPr id="7" name="TextBox 6"/>
          <p:cNvSpPr txBox="1"/>
          <p:nvPr/>
        </p:nvSpPr>
        <p:spPr>
          <a:xfrm>
            <a:off x="7680960" y="4754880"/>
            <a:ext cx="914400" cy="274320"/>
          </a:xfrm>
          <a:prstGeom prst="rect">
            <a:avLst/>
          </a:prstGeom>
          <a:noFill/>
        </p:spPr>
        <p:txBody>
          <a:bodyPr wrap="none" lIns="0" rIns="0" tIns="0" bIns="0">
            <a:spAutoFit/>
          </a:bodyPr>
          <a:lstStyle/>
          <a:p>
            <a:pPr algn="r">
              <a:defRPr sz="900" b="1">
                <a:solidFill>
                  <a:srgbClr val="788CA0"/>
                </a:solidFill>
                <a:latin typeface="Arial"/>
              </a:defRPr>
            </a:pPr>
            <a:r>
              <a:t>2</a:t>
            </a:r>
          </a:p>
        </p:txBody>
      </p:sp>
      <p:sp>
        <p:nvSpPr>
          <p:cNvPr id="8" name="Rounded Rectangle 7"/>
          <p:cNvSpPr/>
          <p:nvPr/>
        </p:nvSpPr>
        <p:spPr>
          <a:xfrm>
            <a:off x="548640" y="1188720"/>
            <a:ext cx="3840480" cy="1554480"/>
          </a:xfrm>
          <a:prstGeom prst="roundRect">
            <a:avLst/>
          </a:prstGeom>
          <a:solidFill>
            <a:srgbClr val="151F2B"/>
          </a:solidFill>
          <a:ln w="12700">
            <a:solidFill>
              <a:srgbClr val="2A3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371600"/>
            <a:ext cx="411480" cy="320040"/>
          </a:xfrm>
          <a:prstGeom prst="roundRect">
            <a:avLst/>
          </a:prstGeom>
          <a:solidFill>
            <a:srgbClr val="2A3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A3E8"/>
                </a:solidFill>
                <a:latin typeface="Arial"/>
              </a:defRPr>
            </a:pPr>
            <a:r>
              <a:t>01</a:t>
            </a:r>
          </a:p>
        </p:txBody>
      </p:sp>
      <p:sp>
        <p:nvSpPr>
          <p:cNvPr id="10" name="TextBox 9"/>
          <p:cNvSpPr txBox="1"/>
          <p:nvPr/>
        </p:nvSpPr>
        <p:spPr>
          <a:xfrm>
            <a:off x="1234440" y="1325880"/>
            <a:ext cx="3017520" cy="1325880"/>
          </a:xfrm>
          <a:prstGeom prst="rect">
            <a:avLst/>
          </a:prstGeom>
          <a:noFill/>
        </p:spPr>
        <p:txBody>
          <a:bodyPr wrap="square" lIns="0" rIns="0" tIns="0" bIns="0">
            <a:spAutoFit/>
          </a:bodyPr>
          <a:lstStyle/>
          <a:p>
            <a:pPr>
              <a:defRPr sz="1300" b="1">
                <a:solidFill>
                  <a:srgbClr val="F2F5F7"/>
                </a:solidFill>
                <a:latin typeface="Arial"/>
              </a:defRPr>
            </a:pPr>
            <a:r>
              <a:t>Fragmented Agricultural Advice</a:t>
            </a:r>
          </a:p>
          <a:p>
            <a:pPr>
              <a:spcBef>
                <a:spcPts val="400"/>
              </a:spcBef>
              <a:defRPr sz="1000">
                <a:solidFill>
                  <a:srgbClr val="B7C4D0"/>
                </a:solidFill>
                <a:latin typeface="Arial"/>
              </a:defRPr>
            </a:pPr>
            <a:r>
              <a:t>Farmers rely on scattered informal messaging groups and unverified forums. Information lacks scientific backing, local relevance, and accountability.</a:t>
            </a:r>
          </a:p>
        </p:txBody>
      </p:sp>
      <p:sp>
        <p:nvSpPr>
          <p:cNvPr id="11" name="Rounded Rectangle 10"/>
          <p:cNvSpPr/>
          <p:nvPr/>
        </p:nvSpPr>
        <p:spPr>
          <a:xfrm>
            <a:off x="4754880" y="1188720"/>
            <a:ext cx="3840480" cy="1554480"/>
          </a:xfrm>
          <a:prstGeom prst="roundRect">
            <a:avLst/>
          </a:prstGeom>
          <a:solidFill>
            <a:srgbClr val="151F2B"/>
          </a:solidFill>
          <a:ln w="12700">
            <a:solidFill>
              <a:srgbClr val="2A3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37760" y="1371600"/>
            <a:ext cx="411480" cy="320040"/>
          </a:xfrm>
          <a:prstGeom prst="roundRect">
            <a:avLst/>
          </a:prstGeom>
          <a:solidFill>
            <a:srgbClr val="2A3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5A623"/>
                </a:solidFill>
                <a:latin typeface="Arial"/>
              </a:defRPr>
            </a:pPr>
            <a:r>
              <a:t>02</a:t>
            </a:r>
          </a:p>
        </p:txBody>
      </p:sp>
      <p:sp>
        <p:nvSpPr>
          <p:cNvPr id="13" name="TextBox 12"/>
          <p:cNvSpPr txBox="1"/>
          <p:nvPr/>
        </p:nvSpPr>
        <p:spPr>
          <a:xfrm>
            <a:off x="5440680" y="1325880"/>
            <a:ext cx="3017520" cy="1325880"/>
          </a:xfrm>
          <a:prstGeom prst="rect">
            <a:avLst/>
          </a:prstGeom>
          <a:noFill/>
        </p:spPr>
        <p:txBody>
          <a:bodyPr wrap="square" lIns="0" rIns="0" tIns="0" bIns="0">
            <a:spAutoFit/>
          </a:bodyPr>
          <a:lstStyle/>
          <a:p>
            <a:pPr>
              <a:defRPr sz="1300" b="1">
                <a:solidFill>
                  <a:srgbClr val="F2F5F7"/>
                </a:solidFill>
                <a:latin typeface="Arial"/>
              </a:defRPr>
            </a:pPr>
            <a:r>
              <a:t>Delayed Disease Identification</a:t>
            </a:r>
          </a:p>
          <a:p>
            <a:pPr>
              <a:spcBef>
                <a:spcPts val="400"/>
              </a:spcBef>
              <a:defRPr sz="1000">
                <a:solidFill>
                  <a:srgbClr val="B7C4D0"/>
                </a:solidFill>
                <a:latin typeface="Arial"/>
              </a:defRPr>
            </a:pPr>
            <a:r>
              <a:t>Plant fungal infections and pest attacks spread rapidly across fields. Farmers struggle to identify pathology early, leading to severe yield destruction.</a:t>
            </a:r>
          </a:p>
        </p:txBody>
      </p:sp>
      <p:sp>
        <p:nvSpPr>
          <p:cNvPr id="14" name="Rounded Rectangle 13"/>
          <p:cNvSpPr/>
          <p:nvPr/>
        </p:nvSpPr>
        <p:spPr>
          <a:xfrm>
            <a:off x="548640" y="2926080"/>
            <a:ext cx="3840480" cy="1554480"/>
          </a:xfrm>
          <a:prstGeom prst="roundRect">
            <a:avLst/>
          </a:prstGeom>
          <a:solidFill>
            <a:srgbClr val="151F2B"/>
          </a:solidFill>
          <a:ln w="12700">
            <a:solidFill>
              <a:srgbClr val="2A3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31520" y="3108960"/>
            <a:ext cx="411480" cy="320040"/>
          </a:xfrm>
          <a:prstGeom prst="roundRect">
            <a:avLst/>
          </a:prstGeom>
          <a:solidFill>
            <a:srgbClr val="2A3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A3E8"/>
                </a:solidFill>
                <a:latin typeface="Arial"/>
              </a:defRPr>
            </a:pPr>
            <a:r>
              <a:t>03</a:t>
            </a:r>
          </a:p>
        </p:txBody>
      </p:sp>
      <p:sp>
        <p:nvSpPr>
          <p:cNvPr id="16" name="TextBox 15"/>
          <p:cNvSpPr txBox="1"/>
          <p:nvPr/>
        </p:nvSpPr>
        <p:spPr>
          <a:xfrm>
            <a:off x="1234440" y="3063240"/>
            <a:ext cx="3017520" cy="1325880"/>
          </a:xfrm>
          <a:prstGeom prst="rect">
            <a:avLst/>
          </a:prstGeom>
          <a:noFill/>
        </p:spPr>
        <p:txBody>
          <a:bodyPr wrap="square" lIns="0" rIns="0" tIns="0" bIns="0">
            <a:spAutoFit/>
          </a:bodyPr>
          <a:lstStyle/>
          <a:p>
            <a:pPr>
              <a:defRPr sz="1300" b="1">
                <a:solidFill>
                  <a:srgbClr val="F2F5F7"/>
                </a:solidFill>
                <a:latin typeface="Arial"/>
              </a:defRPr>
            </a:pPr>
            <a:r>
              <a:t>Inaccessible Agronomy Experts</a:t>
            </a:r>
          </a:p>
          <a:p>
            <a:pPr>
              <a:spcBef>
                <a:spcPts val="400"/>
              </a:spcBef>
              <a:defRPr sz="1000">
                <a:solidFill>
                  <a:srgbClr val="B7C4D0"/>
                </a:solidFill>
                <a:latin typeface="Arial"/>
              </a:defRPr>
            </a:pPr>
            <a:r>
              <a:t>Professional agricultural scientists and government officers are concentrated in urban research centers, making on-demand farm consultations difficult.</a:t>
            </a:r>
          </a:p>
        </p:txBody>
      </p:sp>
      <p:sp>
        <p:nvSpPr>
          <p:cNvPr id="17" name="Rounded Rectangle 16"/>
          <p:cNvSpPr/>
          <p:nvPr/>
        </p:nvSpPr>
        <p:spPr>
          <a:xfrm>
            <a:off x="4754880" y="2926080"/>
            <a:ext cx="3840480" cy="1554480"/>
          </a:xfrm>
          <a:prstGeom prst="roundRect">
            <a:avLst/>
          </a:prstGeom>
          <a:solidFill>
            <a:srgbClr val="151F2B"/>
          </a:solidFill>
          <a:ln w="12700">
            <a:solidFill>
              <a:srgbClr val="2A3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937760" y="3108960"/>
            <a:ext cx="411480" cy="320040"/>
          </a:xfrm>
          <a:prstGeom prst="roundRect">
            <a:avLst/>
          </a:prstGeom>
          <a:solidFill>
            <a:srgbClr val="2A3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5A623"/>
                </a:solidFill>
                <a:latin typeface="Arial"/>
              </a:defRPr>
            </a:pPr>
            <a:r>
              <a:t>04</a:t>
            </a:r>
          </a:p>
        </p:txBody>
      </p:sp>
      <p:sp>
        <p:nvSpPr>
          <p:cNvPr id="19" name="TextBox 18"/>
          <p:cNvSpPr txBox="1"/>
          <p:nvPr/>
        </p:nvSpPr>
        <p:spPr>
          <a:xfrm>
            <a:off x="5440680" y="3063240"/>
            <a:ext cx="3017520" cy="1325880"/>
          </a:xfrm>
          <a:prstGeom prst="rect">
            <a:avLst/>
          </a:prstGeom>
          <a:noFill/>
        </p:spPr>
        <p:txBody>
          <a:bodyPr wrap="square" lIns="0" rIns="0" tIns="0" bIns="0">
            <a:spAutoFit/>
          </a:bodyPr>
          <a:lstStyle/>
          <a:p>
            <a:pPr>
              <a:defRPr sz="1300" b="1">
                <a:solidFill>
                  <a:srgbClr val="F2F5F7"/>
                </a:solidFill>
                <a:latin typeface="Arial"/>
              </a:defRPr>
            </a:pPr>
            <a:r>
              <a:t>Lack of Transparent Governance</a:t>
            </a:r>
          </a:p>
          <a:p>
            <a:pPr>
              <a:spcBef>
                <a:spcPts val="400"/>
              </a:spcBef>
              <a:defRPr sz="1000">
                <a:solidFill>
                  <a:srgbClr val="B7C4D0"/>
                </a:solidFill>
                <a:latin typeface="Arial"/>
              </a:defRPr>
            </a:pPr>
            <a:r>
              <a:t>Traditional agricultural advisory services lack verifiable digital booking, audit histories, fair refund policies, and verified expert credentials.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B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046720" cy="228600"/>
          </a:xfrm>
          <a:prstGeom prst="rect">
            <a:avLst/>
          </a:prstGeom>
          <a:noFill/>
        </p:spPr>
        <p:txBody>
          <a:bodyPr wrap="square" lIns="0" rIns="0" tIns="0" bIns="0">
            <a:spAutoFit/>
          </a:bodyPr>
          <a:lstStyle/>
          <a:p>
            <a:pPr>
              <a:defRPr sz="950" b="1">
                <a:solidFill>
                  <a:srgbClr val="38A3E8"/>
                </a:solidFill>
                <a:latin typeface="Arial"/>
              </a:defRPr>
            </a:pPr>
            <a:r>
              <a:t>MARKET GAP</a:t>
            </a:r>
          </a:p>
        </p:txBody>
      </p:sp>
      <p:sp>
        <p:nvSpPr>
          <p:cNvPr id="4" name="TextBox 3"/>
          <p:cNvSpPr txBox="1"/>
          <p:nvPr/>
        </p:nvSpPr>
        <p:spPr>
          <a:xfrm>
            <a:off x="548640" y="585216"/>
            <a:ext cx="8046720" cy="502920"/>
          </a:xfrm>
          <a:prstGeom prst="rect">
            <a:avLst/>
          </a:prstGeom>
          <a:noFill/>
        </p:spPr>
        <p:txBody>
          <a:bodyPr wrap="square" lIns="0" rIns="0" tIns="0" bIns="0">
            <a:spAutoFit/>
          </a:bodyPr>
          <a:lstStyle/>
          <a:p>
            <a:pPr>
              <a:defRPr sz="2200" b="1">
                <a:solidFill>
                  <a:srgbClr val="F2F5F7"/>
                </a:solidFill>
                <a:latin typeface="Arial"/>
              </a:defRPr>
            </a:pPr>
            <a:r>
              <a:t>Bridging the Gap: Existing Tools vs. AgroConnect</a:t>
            </a:r>
          </a:p>
        </p:txBody>
      </p:sp>
      <p:sp>
        <p:nvSpPr>
          <p:cNvPr id="5" name="Rectangle 4"/>
          <p:cNvSpPr/>
          <p:nvPr/>
        </p:nvSpPr>
        <p:spPr>
          <a:xfrm>
            <a:off x="548640" y="4709160"/>
            <a:ext cx="8046720" cy="13716"/>
          </a:xfrm>
          <a:prstGeom prst="rect">
            <a:avLst/>
          </a:prstGeom>
          <a:solidFill>
            <a:srgbClr val="2A3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4754880"/>
            <a:ext cx="6858000" cy="274320"/>
          </a:xfrm>
          <a:prstGeom prst="rect">
            <a:avLst/>
          </a:prstGeom>
          <a:noFill/>
        </p:spPr>
        <p:txBody>
          <a:bodyPr wrap="none" lIns="0" rIns="0" tIns="0" bIns="0">
            <a:spAutoFit/>
          </a:bodyPr>
          <a:lstStyle/>
          <a:p>
            <a:pPr>
              <a:defRPr sz="850">
                <a:solidFill>
                  <a:srgbClr val="788CA0"/>
                </a:solidFill>
                <a:latin typeface="Arial"/>
              </a:defRPr>
            </a:pPr>
            <a:r>
              <a:t>AGROCONNECT  ·  MCA PROJECT REVIEW</a:t>
            </a:r>
          </a:p>
        </p:txBody>
      </p:sp>
      <p:sp>
        <p:nvSpPr>
          <p:cNvPr id="7" name="TextBox 6"/>
          <p:cNvSpPr txBox="1"/>
          <p:nvPr/>
        </p:nvSpPr>
        <p:spPr>
          <a:xfrm>
            <a:off x="7680960" y="4754880"/>
            <a:ext cx="914400" cy="274320"/>
          </a:xfrm>
          <a:prstGeom prst="rect">
            <a:avLst/>
          </a:prstGeom>
          <a:noFill/>
        </p:spPr>
        <p:txBody>
          <a:bodyPr wrap="none" lIns="0" rIns="0" tIns="0" bIns="0">
            <a:spAutoFit/>
          </a:bodyPr>
          <a:lstStyle/>
          <a:p>
            <a:pPr algn="r">
              <a:defRPr sz="900" b="1">
                <a:solidFill>
                  <a:srgbClr val="788CA0"/>
                </a:solidFill>
                <a:latin typeface="Arial"/>
              </a:defRPr>
            </a:pPr>
            <a:r>
              <a:t>3</a:t>
            </a:r>
          </a:p>
        </p:txBody>
      </p:sp>
      <p:sp>
        <p:nvSpPr>
          <p:cNvPr id="8" name="Rounded Rectangle 7"/>
          <p:cNvSpPr/>
          <p:nvPr/>
        </p:nvSpPr>
        <p:spPr>
          <a:xfrm>
            <a:off x="548640" y="1188720"/>
            <a:ext cx="2514600" cy="3291840"/>
          </a:xfrm>
          <a:prstGeom prst="roundRect">
            <a:avLst/>
          </a:prstGeom>
          <a:solidFill>
            <a:srgbClr val="151F2B"/>
          </a:solidFill>
          <a:ln w="12700">
            <a:solidFill>
              <a:srgbClr val="2A3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325880"/>
            <a:ext cx="2185416" cy="3017520"/>
          </a:xfrm>
          <a:prstGeom prst="rect">
            <a:avLst/>
          </a:prstGeom>
          <a:noFill/>
        </p:spPr>
        <p:txBody>
          <a:bodyPr wrap="square" lIns="0" rIns="0" tIns="0" bIns="0">
            <a:spAutoFit/>
          </a:bodyPr>
          <a:lstStyle/>
          <a:p>
            <a:pPr>
              <a:defRPr sz="1300" b="1">
                <a:solidFill>
                  <a:srgbClr val="F2F5F7"/>
                </a:solidFill>
                <a:latin typeface="Arial"/>
              </a:defRPr>
            </a:pPr>
            <a:r>
              <a:t>General Social Platforms</a:t>
            </a:r>
          </a:p>
          <a:p>
            <a:pPr>
              <a:spcBef>
                <a:spcPts val="200"/>
              </a:spcBef>
              <a:defRPr sz="950">
                <a:solidFill>
                  <a:srgbClr val="788CA0"/>
                </a:solidFill>
                <a:latin typeface="Arial"/>
              </a:defRPr>
            </a:pPr>
            <a:r>
              <a:t>WhatsApp / Facebook Groups</a:t>
            </a:r>
          </a:p>
          <a:p>
            <a:pPr>
              <a:spcBef>
                <a:spcPts val="800"/>
              </a:spcBef>
              <a:defRPr sz="950">
                <a:solidFill>
                  <a:srgbClr val="B7C4D0"/>
                </a:solidFill>
                <a:latin typeface="Arial"/>
              </a:defRPr>
            </a:pPr>
            <a:r>
              <a:t>❌ Unmoderated and noisy feeds</a:t>
            </a:r>
          </a:p>
          <a:p>
            <a:pPr>
              <a:spcBef>
                <a:spcPts val="800"/>
              </a:spcBef>
              <a:defRPr sz="950">
                <a:solidFill>
                  <a:srgbClr val="B7C4D0"/>
                </a:solidFill>
                <a:latin typeface="Arial"/>
              </a:defRPr>
            </a:pPr>
            <a:r>
              <a:t>❌ No verified agronomist certification</a:t>
            </a:r>
          </a:p>
          <a:p>
            <a:pPr>
              <a:spcBef>
                <a:spcPts val="800"/>
              </a:spcBef>
              <a:defRPr sz="950">
                <a:solidFill>
                  <a:srgbClr val="B7C4D0"/>
                </a:solidFill>
                <a:latin typeface="Arial"/>
              </a:defRPr>
            </a:pPr>
            <a:r>
              <a:t>❌ No structured consultation scheduling</a:t>
            </a:r>
          </a:p>
          <a:p>
            <a:pPr>
              <a:spcBef>
                <a:spcPts val="800"/>
              </a:spcBef>
              <a:defRPr sz="950">
                <a:solidFill>
                  <a:srgbClr val="B7C4D0"/>
                </a:solidFill>
                <a:latin typeface="Arial"/>
              </a:defRPr>
            </a:pPr>
            <a:r>
              <a:t>❌ Zero agricultural diagnostic intelligence</a:t>
            </a:r>
          </a:p>
          <a:p>
            <a:pPr>
              <a:spcBef>
                <a:spcPts val="800"/>
              </a:spcBef>
              <a:defRPr sz="950">
                <a:solidFill>
                  <a:srgbClr val="B7C4D0"/>
                </a:solidFill>
                <a:latin typeface="Arial"/>
              </a:defRPr>
            </a:pPr>
            <a:r>
              <a:t>❌ Location-blind content distribution</a:t>
            </a:r>
          </a:p>
        </p:txBody>
      </p:sp>
      <p:sp>
        <p:nvSpPr>
          <p:cNvPr id="10" name="Rounded Rectangle 9"/>
          <p:cNvSpPr/>
          <p:nvPr/>
        </p:nvSpPr>
        <p:spPr>
          <a:xfrm>
            <a:off x="3291840" y="1188720"/>
            <a:ext cx="2514600" cy="3291840"/>
          </a:xfrm>
          <a:prstGeom prst="roundRect">
            <a:avLst/>
          </a:prstGeom>
          <a:solidFill>
            <a:srgbClr val="151F2B"/>
          </a:solidFill>
          <a:ln w="12700">
            <a:solidFill>
              <a:srgbClr val="2A3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56432" y="1325880"/>
            <a:ext cx="2185416" cy="3017520"/>
          </a:xfrm>
          <a:prstGeom prst="rect">
            <a:avLst/>
          </a:prstGeom>
          <a:noFill/>
        </p:spPr>
        <p:txBody>
          <a:bodyPr wrap="square" lIns="0" rIns="0" tIns="0" bIns="0">
            <a:spAutoFit/>
          </a:bodyPr>
          <a:lstStyle/>
          <a:p>
            <a:pPr>
              <a:defRPr sz="1300" b="1">
                <a:solidFill>
                  <a:srgbClr val="F2F5F7"/>
                </a:solidFill>
                <a:latin typeface="Arial"/>
              </a:defRPr>
            </a:pPr>
            <a:r>
              <a:t>Single-Purpose AI Apps</a:t>
            </a:r>
          </a:p>
          <a:p>
            <a:pPr>
              <a:spcBef>
                <a:spcPts val="200"/>
              </a:spcBef>
              <a:defRPr sz="950">
                <a:solidFill>
                  <a:srgbClr val="788CA0"/>
                </a:solidFill>
                <a:latin typeface="Arial"/>
              </a:defRPr>
            </a:pPr>
            <a:r>
              <a:t>Standalone Disease Scanners</a:t>
            </a:r>
          </a:p>
          <a:p>
            <a:pPr>
              <a:spcBef>
                <a:spcPts val="800"/>
              </a:spcBef>
              <a:defRPr sz="950">
                <a:solidFill>
                  <a:srgbClr val="B7C4D0"/>
                </a:solidFill>
                <a:latin typeface="Arial"/>
              </a:defRPr>
            </a:pPr>
            <a:r>
              <a:t>⚠️ Isolated diagnosis without human followup</a:t>
            </a:r>
          </a:p>
          <a:p>
            <a:pPr>
              <a:spcBef>
                <a:spcPts val="800"/>
              </a:spcBef>
              <a:defRPr sz="950">
                <a:solidFill>
                  <a:srgbClr val="B7C4D0"/>
                </a:solidFill>
                <a:latin typeface="Arial"/>
              </a:defRPr>
            </a:pPr>
            <a:r>
              <a:t>❌ No direct agronomist booking mechanism</a:t>
            </a:r>
          </a:p>
          <a:p>
            <a:pPr>
              <a:spcBef>
                <a:spcPts val="800"/>
              </a:spcBef>
              <a:defRPr sz="950">
                <a:solidFill>
                  <a:srgbClr val="B7C4D0"/>
                </a:solidFill>
                <a:latin typeface="Arial"/>
              </a:defRPr>
            </a:pPr>
            <a:r>
              <a:t>❌ No community discussion or peer support</a:t>
            </a:r>
          </a:p>
          <a:p>
            <a:pPr>
              <a:spcBef>
                <a:spcPts val="800"/>
              </a:spcBef>
              <a:defRPr sz="950">
                <a:solidFill>
                  <a:srgbClr val="B7C4D0"/>
                </a:solidFill>
                <a:latin typeface="Arial"/>
              </a:defRPr>
            </a:pPr>
            <a:r>
              <a:t>❌ No regional district-specific prioritization</a:t>
            </a:r>
          </a:p>
          <a:p>
            <a:pPr>
              <a:spcBef>
                <a:spcPts val="800"/>
              </a:spcBef>
              <a:defRPr sz="950">
                <a:solidFill>
                  <a:srgbClr val="B7C4D0"/>
                </a:solidFill>
                <a:latin typeface="Arial"/>
              </a:defRPr>
            </a:pPr>
            <a:r>
              <a:t>❌ Requires multiple fragmented applications</a:t>
            </a:r>
          </a:p>
        </p:txBody>
      </p:sp>
      <p:sp>
        <p:nvSpPr>
          <p:cNvPr id="12" name="Rounded Rectangle 11"/>
          <p:cNvSpPr/>
          <p:nvPr/>
        </p:nvSpPr>
        <p:spPr>
          <a:xfrm>
            <a:off x="6035040" y="1188720"/>
            <a:ext cx="2514600" cy="3291840"/>
          </a:xfrm>
          <a:prstGeom prst="roundRect">
            <a:avLst/>
          </a:prstGeom>
          <a:solidFill>
            <a:srgbClr val="121C28"/>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99632" y="1325880"/>
            <a:ext cx="2185416" cy="3017520"/>
          </a:xfrm>
          <a:prstGeom prst="rect">
            <a:avLst/>
          </a:prstGeom>
          <a:noFill/>
        </p:spPr>
        <p:txBody>
          <a:bodyPr wrap="square" lIns="0" rIns="0" tIns="0" bIns="0">
            <a:spAutoFit/>
          </a:bodyPr>
          <a:lstStyle/>
          <a:p>
            <a:pPr>
              <a:defRPr sz="1300" b="1">
                <a:solidFill>
                  <a:srgbClr val="2ECC71"/>
                </a:solidFill>
                <a:latin typeface="Arial"/>
              </a:defRPr>
            </a:pPr>
            <a:r>
              <a:t>AgroConnect Ecosystem</a:t>
            </a:r>
          </a:p>
          <a:p>
            <a:pPr>
              <a:spcBef>
                <a:spcPts val="200"/>
              </a:spcBef>
              <a:defRPr sz="950">
                <a:solidFill>
                  <a:srgbClr val="788CA0"/>
                </a:solidFill>
                <a:latin typeface="Arial"/>
              </a:defRPr>
            </a:pPr>
            <a:r>
              <a:t>Unified Smart Platform</a:t>
            </a:r>
          </a:p>
          <a:p>
            <a:pPr>
              <a:spcBef>
                <a:spcPts val="800"/>
              </a:spcBef>
              <a:defRPr sz="950">
                <a:solidFill>
                  <a:srgbClr val="F2F5F7"/>
                </a:solidFill>
                <a:latin typeface="Arial"/>
              </a:defRPr>
            </a:pPr>
            <a:r>
              <a:t>✅ District-first community knowledge feed</a:t>
            </a:r>
          </a:p>
          <a:p>
            <a:pPr>
              <a:spcBef>
                <a:spcPts val="800"/>
              </a:spcBef>
              <a:defRPr sz="950">
                <a:solidFill>
                  <a:srgbClr val="F2F5F7"/>
                </a:solidFill>
                <a:latin typeface="Arial"/>
              </a:defRPr>
            </a:pPr>
            <a:r>
              <a:t>✅ PEA AI instant agronomist assistant</a:t>
            </a:r>
          </a:p>
          <a:p>
            <a:pPr>
              <a:spcBef>
                <a:spcPts val="800"/>
              </a:spcBef>
              <a:defRPr sz="950">
                <a:solidFill>
                  <a:srgbClr val="F2F5F7"/>
                </a:solidFill>
                <a:latin typeface="Arial"/>
              </a:defRPr>
            </a:pPr>
            <a:r>
              <a:t>✅ Verified expert video consultation (Google Meet)</a:t>
            </a:r>
          </a:p>
          <a:p>
            <a:pPr>
              <a:spcBef>
                <a:spcPts val="800"/>
              </a:spcBef>
              <a:defRPr sz="950">
                <a:solidFill>
                  <a:srgbClr val="F2F5F7"/>
                </a:solidFill>
                <a:latin typeface="Arial"/>
              </a:defRPr>
            </a:pPr>
            <a:r>
              <a:t>✅ Automated escrow-safe cancellation rules</a:t>
            </a:r>
          </a:p>
          <a:p>
            <a:pPr>
              <a:spcBef>
                <a:spcPts val="800"/>
              </a:spcBef>
              <a:defRPr sz="950">
                <a:solidFill>
                  <a:srgbClr val="F2F5F7"/>
                </a:solidFill>
                <a:latin typeface="Arial"/>
              </a:defRPr>
            </a:pPr>
            <a:r>
              <a:t>✅ Admin-governed KYC accreditation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B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046720" cy="228600"/>
          </a:xfrm>
          <a:prstGeom prst="rect">
            <a:avLst/>
          </a:prstGeom>
          <a:noFill/>
        </p:spPr>
        <p:txBody>
          <a:bodyPr wrap="square" lIns="0" rIns="0" tIns="0" bIns="0">
            <a:spAutoFit/>
          </a:bodyPr>
          <a:lstStyle/>
          <a:p>
            <a:pPr>
              <a:defRPr sz="950" b="1">
                <a:solidFill>
                  <a:srgbClr val="38A3E8"/>
                </a:solidFill>
                <a:latin typeface="Arial"/>
              </a:defRPr>
            </a:pPr>
            <a:r>
              <a:t>SYSTEM OVERVIEW</a:t>
            </a:r>
          </a:p>
        </p:txBody>
      </p:sp>
      <p:sp>
        <p:nvSpPr>
          <p:cNvPr id="4" name="TextBox 3"/>
          <p:cNvSpPr txBox="1"/>
          <p:nvPr/>
        </p:nvSpPr>
        <p:spPr>
          <a:xfrm>
            <a:off x="548640" y="585216"/>
            <a:ext cx="8046720" cy="502920"/>
          </a:xfrm>
          <a:prstGeom prst="rect">
            <a:avLst/>
          </a:prstGeom>
          <a:noFill/>
        </p:spPr>
        <p:txBody>
          <a:bodyPr wrap="square" lIns="0" rIns="0" tIns="0" bIns="0">
            <a:spAutoFit/>
          </a:bodyPr>
          <a:lstStyle/>
          <a:p>
            <a:pPr>
              <a:defRPr sz="2200" b="1">
                <a:solidFill>
                  <a:srgbClr val="F2F5F7"/>
                </a:solidFill>
                <a:latin typeface="Arial"/>
              </a:defRPr>
            </a:pPr>
            <a:r>
              <a:t>AgroConnect: Architecture &amp; Core Pillars</a:t>
            </a:r>
          </a:p>
        </p:txBody>
      </p:sp>
      <p:sp>
        <p:nvSpPr>
          <p:cNvPr id="5" name="Rectangle 4"/>
          <p:cNvSpPr/>
          <p:nvPr/>
        </p:nvSpPr>
        <p:spPr>
          <a:xfrm>
            <a:off x="548640" y="4709160"/>
            <a:ext cx="8046720" cy="13716"/>
          </a:xfrm>
          <a:prstGeom prst="rect">
            <a:avLst/>
          </a:prstGeom>
          <a:solidFill>
            <a:srgbClr val="2A3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4754880"/>
            <a:ext cx="6858000" cy="274320"/>
          </a:xfrm>
          <a:prstGeom prst="rect">
            <a:avLst/>
          </a:prstGeom>
          <a:noFill/>
        </p:spPr>
        <p:txBody>
          <a:bodyPr wrap="none" lIns="0" rIns="0" tIns="0" bIns="0">
            <a:spAutoFit/>
          </a:bodyPr>
          <a:lstStyle/>
          <a:p>
            <a:pPr>
              <a:defRPr sz="850">
                <a:solidFill>
                  <a:srgbClr val="788CA0"/>
                </a:solidFill>
                <a:latin typeface="Arial"/>
              </a:defRPr>
            </a:pPr>
            <a:r>
              <a:t>AGROCONNECT  ·  MCA PROJECT REVIEW</a:t>
            </a:r>
          </a:p>
        </p:txBody>
      </p:sp>
      <p:sp>
        <p:nvSpPr>
          <p:cNvPr id="7" name="TextBox 6"/>
          <p:cNvSpPr txBox="1"/>
          <p:nvPr/>
        </p:nvSpPr>
        <p:spPr>
          <a:xfrm>
            <a:off x="7680960" y="4754880"/>
            <a:ext cx="914400" cy="274320"/>
          </a:xfrm>
          <a:prstGeom prst="rect">
            <a:avLst/>
          </a:prstGeom>
          <a:noFill/>
        </p:spPr>
        <p:txBody>
          <a:bodyPr wrap="none" lIns="0" rIns="0" tIns="0" bIns="0">
            <a:spAutoFit/>
          </a:bodyPr>
          <a:lstStyle/>
          <a:p>
            <a:pPr algn="r">
              <a:defRPr sz="900" b="1">
                <a:solidFill>
                  <a:srgbClr val="788CA0"/>
                </a:solidFill>
                <a:latin typeface="Arial"/>
              </a:defRPr>
            </a:pPr>
            <a:r>
              <a:t>4</a:t>
            </a:r>
          </a:p>
        </p:txBody>
      </p:sp>
      <p:sp>
        <p:nvSpPr>
          <p:cNvPr id="8" name="TextBox 7"/>
          <p:cNvSpPr txBox="1"/>
          <p:nvPr/>
        </p:nvSpPr>
        <p:spPr>
          <a:xfrm>
            <a:off x="548640" y="1188720"/>
            <a:ext cx="4389120" cy="1097280"/>
          </a:xfrm>
          <a:prstGeom prst="rect">
            <a:avLst/>
          </a:prstGeom>
          <a:noFill/>
        </p:spPr>
        <p:txBody>
          <a:bodyPr wrap="square" lIns="0" rIns="0" tIns="0" bIns="0">
            <a:spAutoFit/>
          </a:bodyPr>
          <a:lstStyle/>
          <a:p>
            <a:pPr>
              <a:defRPr sz="1100">
                <a:solidFill>
                  <a:srgbClr val="B7C4D0"/>
                </a:solidFill>
                <a:latin typeface="Arial"/>
              </a:defRPr>
            </a:pPr>
            <a:r>
              <a:t>A purpose-built agricultural ecosystem designed to empower farmers with localized intelligence, rapid plant disease guidance, and direct consultation with certified agronomists.</a:t>
            </a:r>
          </a:p>
        </p:txBody>
      </p:sp>
      <p:sp>
        <p:nvSpPr>
          <p:cNvPr id="9" name="Rounded Rectangle 8"/>
          <p:cNvSpPr/>
          <p:nvPr/>
        </p:nvSpPr>
        <p:spPr>
          <a:xfrm>
            <a:off x="548640" y="2103120"/>
            <a:ext cx="4389120" cy="566928"/>
          </a:xfrm>
          <a:prstGeom prst="roundRect">
            <a:avLst/>
          </a:prstGeom>
          <a:solidFill>
            <a:srgbClr val="151F2B"/>
          </a:solidFill>
          <a:ln w="12700">
            <a:solidFill>
              <a:srgbClr val="2A3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03120"/>
            <a:ext cx="54864" cy="566928"/>
          </a:xfrm>
          <a:prstGeom prst="rect">
            <a:avLst/>
          </a:prstGeom>
          <a:solidFill>
            <a:srgbClr val="38A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157984"/>
            <a:ext cx="4133088" cy="457200"/>
          </a:xfrm>
          <a:prstGeom prst="rect">
            <a:avLst/>
          </a:prstGeom>
          <a:noFill/>
        </p:spPr>
        <p:txBody>
          <a:bodyPr wrap="square" lIns="0" rIns="0" tIns="0" bIns="0">
            <a:spAutoFit/>
          </a:bodyPr>
          <a:lstStyle/>
          <a:p>
            <a:pPr>
              <a:defRPr sz="1100" b="1">
                <a:solidFill>
                  <a:srgbClr val="F2F5F7"/>
                </a:solidFill>
                <a:latin typeface="Arial"/>
              </a:defRPr>
            </a:pPr>
            <a:r>
              <a:t>District-First Community</a:t>
            </a:r>
          </a:p>
          <a:p>
            <a:pPr>
              <a:spcBef>
                <a:spcPts val="100"/>
              </a:spcBef>
              <a:defRPr sz="900">
                <a:solidFill>
                  <a:srgbClr val="B7C4D0"/>
                </a:solidFill>
                <a:latin typeface="Arial"/>
              </a:defRPr>
            </a:pPr>
            <a:r>
              <a:t>Feeds prioritized by farmer's district (Kannur, Kottayam, Pathanamthitta, Idukki).</a:t>
            </a:r>
          </a:p>
        </p:txBody>
      </p:sp>
      <p:sp>
        <p:nvSpPr>
          <p:cNvPr id="12" name="Rounded Rectangle 11"/>
          <p:cNvSpPr/>
          <p:nvPr/>
        </p:nvSpPr>
        <p:spPr>
          <a:xfrm>
            <a:off x="548640" y="2724912"/>
            <a:ext cx="4389120" cy="566928"/>
          </a:xfrm>
          <a:prstGeom prst="roundRect">
            <a:avLst/>
          </a:prstGeom>
          <a:solidFill>
            <a:srgbClr val="151F2B"/>
          </a:solidFill>
          <a:ln w="12700">
            <a:solidFill>
              <a:srgbClr val="2A3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724912"/>
            <a:ext cx="54864" cy="56692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779776"/>
            <a:ext cx="4133088" cy="457200"/>
          </a:xfrm>
          <a:prstGeom prst="rect">
            <a:avLst/>
          </a:prstGeom>
          <a:noFill/>
        </p:spPr>
        <p:txBody>
          <a:bodyPr wrap="square" lIns="0" rIns="0" tIns="0" bIns="0">
            <a:spAutoFit/>
          </a:bodyPr>
          <a:lstStyle/>
          <a:p>
            <a:pPr>
              <a:defRPr sz="1100" b="1">
                <a:solidFill>
                  <a:srgbClr val="F2F5F7"/>
                </a:solidFill>
                <a:latin typeface="Arial"/>
              </a:defRPr>
            </a:pPr>
            <a:r>
              <a:t>PEA AI Smart Assistant</a:t>
            </a:r>
          </a:p>
          <a:p>
            <a:pPr>
              <a:spcBef>
                <a:spcPts val="100"/>
              </a:spcBef>
              <a:defRPr sz="900">
                <a:solidFill>
                  <a:srgbClr val="B7C4D0"/>
                </a:solidFill>
                <a:latin typeface="Arial"/>
              </a:defRPr>
            </a:pPr>
            <a:r>
              <a:t>Instant agronomic intelligence on pest cycles, vermicompost, and disease symptoms.</a:t>
            </a:r>
          </a:p>
        </p:txBody>
      </p:sp>
      <p:sp>
        <p:nvSpPr>
          <p:cNvPr id="15" name="Rounded Rectangle 14"/>
          <p:cNvSpPr/>
          <p:nvPr/>
        </p:nvSpPr>
        <p:spPr>
          <a:xfrm>
            <a:off x="548640" y="3346704"/>
            <a:ext cx="4389120" cy="566928"/>
          </a:xfrm>
          <a:prstGeom prst="roundRect">
            <a:avLst/>
          </a:prstGeom>
          <a:solidFill>
            <a:srgbClr val="151F2B"/>
          </a:solidFill>
          <a:ln w="12700">
            <a:solidFill>
              <a:srgbClr val="2A3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346704"/>
            <a:ext cx="54864" cy="56692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3401568"/>
            <a:ext cx="4133088" cy="457200"/>
          </a:xfrm>
          <a:prstGeom prst="rect">
            <a:avLst/>
          </a:prstGeom>
          <a:noFill/>
        </p:spPr>
        <p:txBody>
          <a:bodyPr wrap="square" lIns="0" rIns="0" tIns="0" bIns="0">
            <a:spAutoFit/>
          </a:bodyPr>
          <a:lstStyle/>
          <a:p>
            <a:pPr>
              <a:defRPr sz="1100" b="1">
                <a:solidFill>
                  <a:srgbClr val="F2F5F7"/>
                </a:solidFill>
                <a:latin typeface="Arial"/>
              </a:defRPr>
            </a:pPr>
            <a:r>
              <a:t>Catch Up Tele-Consultations</a:t>
            </a:r>
          </a:p>
          <a:p>
            <a:pPr>
              <a:spcBef>
                <a:spcPts val="100"/>
              </a:spcBef>
              <a:defRPr sz="900">
                <a:solidFill>
                  <a:srgbClr val="B7C4D0"/>
                </a:solidFill>
                <a:latin typeface="Arial"/>
              </a:defRPr>
            </a:pPr>
            <a:r>
              <a:t>Interactive calendar booking with Google Meet video rooms and automated refund logic.</a:t>
            </a:r>
          </a:p>
        </p:txBody>
      </p:sp>
      <p:sp>
        <p:nvSpPr>
          <p:cNvPr id="18" name="Rounded Rectangle 17"/>
          <p:cNvSpPr/>
          <p:nvPr/>
        </p:nvSpPr>
        <p:spPr>
          <a:xfrm>
            <a:off x="548640" y="3968496"/>
            <a:ext cx="4389120" cy="566928"/>
          </a:xfrm>
          <a:prstGeom prst="roundRect">
            <a:avLst/>
          </a:prstGeom>
          <a:solidFill>
            <a:srgbClr val="151F2B"/>
          </a:solidFill>
          <a:ln w="12700">
            <a:solidFill>
              <a:srgbClr val="2A3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968496"/>
            <a:ext cx="54864" cy="566928"/>
          </a:xfrm>
          <a:prstGeom prst="rect">
            <a:avLst/>
          </a:prstGeom>
          <a:solidFill>
            <a:srgbClr val="38A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4023360"/>
            <a:ext cx="4133088" cy="457200"/>
          </a:xfrm>
          <a:prstGeom prst="rect">
            <a:avLst/>
          </a:prstGeom>
          <a:noFill/>
        </p:spPr>
        <p:txBody>
          <a:bodyPr wrap="square" lIns="0" rIns="0" tIns="0" bIns="0">
            <a:spAutoFit/>
          </a:bodyPr>
          <a:lstStyle/>
          <a:p>
            <a:pPr>
              <a:defRPr sz="1100" b="1">
                <a:solidFill>
                  <a:srgbClr val="F2F5F7"/>
                </a:solidFill>
                <a:latin typeface="Arial"/>
              </a:defRPr>
            </a:pPr>
            <a:r>
              <a:t>Governance &amp; Verification</a:t>
            </a:r>
          </a:p>
          <a:p>
            <a:pPr>
              <a:spcBef>
                <a:spcPts val="100"/>
              </a:spcBef>
              <a:defRPr sz="900">
                <a:solidFill>
                  <a:srgbClr val="B7C4D0"/>
                </a:solidFill>
                <a:latin typeface="Arial"/>
              </a:defRPr>
            </a:pPr>
            <a:r>
              <a:t>Admin accreditation verifying expert degrees, CV PDFs, and broadcast oversight.</a:t>
            </a:r>
          </a:p>
        </p:txBody>
      </p:sp>
      <p:sp>
        <p:nvSpPr>
          <p:cNvPr id="21" name="Rounded Rectangle 20"/>
          <p:cNvSpPr/>
          <p:nvPr/>
        </p:nvSpPr>
        <p:spPr>
          <a:xfrm>
            <a:off x="6134941" y="1060704"/>
            <a:ext cx="1628996" cy="3547872"/>
          </a:xfrm>
          <a:prstGeom prst="roundRect">
            <a:avLst/>
          </a:prstGeom>
          <a:solidFill>
            <a:srgbClr val="101822"/>
          </a:solidFill>
          <a:ln w="12700">
            <a:solidFill>
              <a:srgbClr val="38A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farmer_feed.png"/>
          <p:cNvPicPr>
            <a:picLocks noChangeAspect="1"/>
          </p:cNvPicPr>
          <p:nvPr/>
        </p:nvPicPr>
        <p:blipFill>
          <a:blip r:embed="rId2"/>
          <a:stretch>
            <a:fillRect/>
          </a:stretch>
        </p:blipFill>
        <p:spPr>
          <a:xfrm>
            <a:off x="6171517" y="1097280"/>
            <a:ext cx="1555844" cy="3474720"/>
          </a:xfrm>
          <a:prstGeom prst="rect">
            <a:avLst/>
          </a:prstGeom>
        </p:spPr>
      </p:pic>
      <p:sp>
        <p:nvSpPr>
          <p:cNvPr id="23" name="TextBox 22"/>
          <p:cNvSpPr txBox="1"/>
          <p:nvPr/>
        </p:nvSpPr>
        <p:spPr>
          <a:xfrm>
            <a:off x="5303520" y="4626864"/>
            <a:ext cx="3291840" cy="320040"/>
          </a:xfrm>
          <a:prstGeom prst="rect">
            <a:avLst/>
          </a:prstGeom>
          <a:noFill/>
        </p:spPr>
        <p:txBody>
          <a:bodyPr wrap="square" lIns="0" rIns="0" tIns="0" bIns="0">
            <a:spAutoFit/>
          </a:bodyPr>
          <a:lstStyle/>
          <a:p>
            <a:pPr algn="ctr">
              <a:defRPr sz="850" i="1">
                <a:solidFill>
                  <a:srgbClr val="B7C4D0"/>
                </a:solidFill>
                <a:latin typeface="Arial"/>
              </a:defRPr>
            </a:pPr>
            <a:r>
              <a:t>AgroConnect Mobile Feed Interface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B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046720" cy="228600"/>
          </a:xfrm>
          <a:prstGeom prst="rect">
            <a:avLst/>
          </a:prstGeom>
          <a:noFill/>
        </p:spPr>
        <p:txBody>
          <a:bodyPr wrap="square" lIns="0" rIns="0" tIns="0" bIns="0">
            <a:spAutoFit/>
          </a:bodyPr>
          <a:lstStyle/>
          <a:p>
            <a:pPr>
              <a:defRPr sz="950" b="1">
                <a:solidFill>
                  <a:srgbClr val="38A3E8"/>
                </a:solidFill>
                <a:latin typeface="Arial"/>
              </a:defRPr>
            </a:pPr>
            <a:r>
              <a:t>USER ARCHITECTURE</a:t>
            </a:r>
          </a:p>
        </p:txBody>
      </p:sp>
      <p:sp>
        <p:nvSpPr>
          <p:cNvPr id="4" name="TextBox 3"/>
          <p:cNvSpPr txBox="1"/>
          <p:nvPr/>
        </p:nvSpPr>
        <p:spPr>
          <a:xfrm>
            <a:off x="548640" y="585216"/>
            <a:ext cx="8046720" cy="502920"/>
          </a:xfrm>
          <a:prstGeom prst="rect">
            <a:avLst/>
          </a:prstGeom>
          <a:noFill/>
        </p:spPr>
        <p:txBody>
          <a:bodyPr wrap="square" lIns="0" rIns="0" tIns="0" bIns="0">
            <a:spAutoFit/>
          </a:bodyPr>
          <a:lstStyle/>
          <a:p>
            <a:pPr>
              <a:defRPr sz="2200" b="1">
                <a:solidFill>
                  <a:srgbClr val="F2F5F7"/>
                </a:solidFill>
                <a:latin typeface="Arial"/>
              </a:defRPr>
            </a:pPr>
            <a:r>
              <a:t>Role-Based Ecosystem &amp; Permission Matrix</a:t>
            </a:r>
          </a:p>
        </p:txBody>
      </p:sp>
      <p:sp>
        <p:nvSpPr>
          <p:cNvPr id="5" name="Rectangle 4"/>
          <p:cNvSpPr/>
          <p:nvPr/>
        </p:nvSpPr>
        <p:spPr>
          <a:xfrm>
            <a:off x="548640" y="4709160"/>
            <a:ext cx="8046720" cy="13716"/>
          </a:xfrm>
          <a:prstGeom prst="rect">
            <a:avLst/>
          </a:prstGeom>
          <a:solidFill>
            <a:srgbClr val="2A3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4754880"/>
            <a:ext cx="6858000" cy="274320"/>
          </a:xfrm>
          <a:prstGeom prst="rect">
            <a:avLst/>
          </a:prstGeom>
          <a:noFill/>
        </p:spPr>
        <p:txBody>
          <a:bodyPr wrap="none" lIns="0" rIns="0" tIns="0" bIns="0">
            <a:spAutoFit/>
          </a:bodyPr>
          <a:lstStyle/>
          <a:p>
            <a:pPr>
              <a:defRPr sz="850">
                <a:solidFill>
                  <a:srgbClr val="788CA0"/>
                </a:solidFill>
                <a:latin typeface="Arial"/>
              </a:defRPr>
            </a:pPr>
            <a:r>
              <a:t>AGROCONNECT  ·  MCA PROJECT REVIEW</a:t>
            </a:r>
          </a:p>
        </p:txBody>
      </p:sp>
      <p:sp>
        <p:nvSpPr>
          <p:cNvPr id="7" name="TextBox 6"/>
          <p:cNvSpPr txBox="1"/>
          <p:nvPr/>
        </p:nvSpPr>
        <p:spPr>
          <a:xfrm>
            <a:off x="7680960" y="4754880"/>
            <a:ext cx="914400" cy="274320"/>
          </a:xfrm>
          <a:prstGeom prst="rect">
            <a:avLst/>
          </a:prstGeom>
          <a:noFill/>
        </p:spPr>
        <p:txBody>
          <a:bodyPr wrap="none" lIns="0" rIns="0" tIns="0" bIns="0">
            <a:spAutoFit/>
          </a:bodyPr>
          <a:lstStyle/>
          <a:p>
            <a:pPr algn="r">
              <a:defRPr sz="900" b="1">
                <a:solidFill>
                  <a:srgbClr val="788CA0"/>
                </a:solidFill>
                <a:latin typeface="Arial"/>
              </a:defRPr>
            </a:pPr>
            <a:r>
              <a:t>5</a:t>
            </a:r>
          </a:p>
        </p:txBody>
      </p:sp>
      <p:sp>
        <p:nvSpPr>
          <p:cNvPr id="8" name="Rounded Rectangle 7"/>
          <p:cNvSpPr/>
          <p:nvPr/>
        </p:nvSpPr>
        <p:spPr>
          <a:xfrm>
            <a:off x="548640" y="1188720"/>
            <a:ext cx="2514600" cy="3291840"/>
          </a:xfrm>
          <a:prstGeom prst="roundRect">
            <a:avLst/>
          </a:prstGeom>
          <a:solidFill>
            <a:srgbClr val="151F2B"/>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188720"/>
            <a:ext cx="2514600" cy="54864"/>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325880"/>
            <a:ext cx="2185416" cy="3017520"/>
          </a:xfrm>
          <a:prstGeom prst="rect">
            <a:avLst/>
          </a:prstGeom>
          <a:noFill/>
        </p:spPr>
        <p:txBody>
          <a:bodyPr wrap="square" lIns="0" rIns="0" tIns="0" bIns="0">
            <a:spAutoFit/>
          </a:bodyPr>
          <a:lstStyle/>
          <a:p>
            <a:pPr>
              <a:defRPr sz="1350" b="1">
                <a:solidFill>
                  <a:srgbClr val="F2F5F7"/>
                </a:solidFill>
                <a:latin typeface="Arial"/>
              </a:defRPr>
            </a:pPr>
            <a:r>
              <a:t>Farmer (User)</a:t>
            </a:r>
          </a:p>
          <a:p>
            <a:pPr>
              <a:spcBef>
                <a:spcPts val="200"/>
              </a:spcBef>
              <a:defRPr sz="900">
                <a:solidFill>
                  <a:srgbClr val="2ECC71"/>
                </a:solidFill>
                <a:latin typeface="Arial"/>
              </a:defRPr>
            </a:pPr>
            <a:r>
              <a:t>Primary Agricultural Participant</a:t>
            </a:r>
          </a:p>
          <a:p>
            <a:pPr>
              <a:spcBef>
                <a:spcPts val="800"/>
              </a:spcBef>
              <a:defRPr sz="950">
                <a:solidFill>
                  <a:srgbClr val="B7C4D0"/>
                </a:solidFill>
                <a:latin typeface="Arial"/>
              </a:defRPr>
            </a:pPr>
            <a:r>
              <a:t>• Register with phone, district &amp; Google OAuth</a:t>
            </a:r>
          </a:p>
          <a:p>
            <a:pPr>
              <a:spcBef>
                <a:spcPts val="800"/>
              </a:spcBef>
              <a:defRPr sz="950">
                <a:solidFill>
                  <a:srgbClr val="B7C4D0"/>
                </a:solidFill>
                <a:latin typeface="Arial"/>
              </a:defRPr>
            </a:pPr>
            <a:r>
              <a:t>• Publish photo &amp; video crop field updates</a:t>
            </a:r>
          </a:p>
          <a:p>
            <a:pPr>
              <a:spcBef>
                <a:spcPts val="800"/>
              </a:spcBef>
              <a:defRPr sz="950">
                <a:solidFill>
                  <a:srgbClr val="B7C4D0"/>
                </a:solidFill>
                <a:latin typeface="Arial"/>
              </a:defRPr>
            </a:pPr>
            <a:r>
              <a:t>• Query PEA AI for instant plant pathology advice</a:t>
            </a:r>
          </a:p>
          <a:p>
            <a:pPr>
              <a:spcBef>
                <a:spcPts val="800"/>
              </a:spcBef>
              <a:defRPr sz="950">
                <a:solidFill>
                  <a:srgbClr val="B7C4D0"/>
                </a:solidFill>
                <a:latin typeface="Arial"/>
              </a:defRPr>
            </a:pPr>
            <a:r>
              <a:t>• Book verified agronomist consultation slots</a:t>
            </a:r>
          </a:p>
          <a:p>
            <a:pPr>
              <a:spcBef>
                <a:spcPts val="800"/>
              </a:spcBef>
              <a:defRPr sz="950">
                <a:solidFill>
                  <a:srgbClr val="B7C4D0"/>
                </a:solidFill>
                <a:latin typeface="Arial"/>
              </a:defRPr>
            </a:pPr>
            <a:r>
              <a:t>• Chat directly or submit connection requests</a:t>
            </a:r>
          </a:p>
        </p:txBody>
      </p:sp>
      <p:sp>
        <p:nvSpPr>
          <p:cNvPr id="11" name="Rounded Rectangle 10"/>
          <p:cNvSpPr/>
          <p:nvPr/>
        </p:nvSpPr>
        <p:spPr>
          <a:xfrm>
            <a:off x="3291840" y="1188720"/>
            <a:ext cx="2514600" cy="3291840"/>
          </a:xfrm>
          <a:prstGeom prst="roundRect">
            <a:avLst/>
          </a:prstGeom>
          <a:solidFill>
            <a:srgbClr val="151F2B"/>
          </a:solidFill>
          <a:ln w="12700">
            <a:solidFill>
              <a:srgbClr val="38A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91840" y="1188720"/>
            <a:ext cx="2514600" cy="54864"/>
          </a:xfrm>
          <a:prstGeom prst="rect">
            <a:avLst/>
          </a:prstGeom>
          <a:solidFill>
            <a:srgbClr val="38A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6432" y="1325880"/>
            <a:ext cx="2185416" cy="3017520"/>
          </a:xfrm>
          <a:prstGeom prst="rect">
            <a:avLst/>
          </a:prstGeom>
          <a:noFill/>
        </p:spPr>
        <p:txBody>
          <a:bodyPr wrap="square" lIns="0" rIns="0" tIns="0" bIns="0">
            <a:spAutoFit/>
          </a:bodyPr>
          <a:lstStyle/>
          <a:p>
            <a:pPr>
              <a:defRPr sz="1350" b="1">
                <a:solidFill>
                  <a:srgbClr val="F2F5F7"/>
                </a:solidFill>
                <a:latin typeface="Arial"/>
              </a:defRPr>
            </a:pPr>
            <a:r>
              <a:t>Agricultural Expert</a:t>
            </a:r>
          </a:p>
          <a:p>
            <a:pPr>
              <a:spcBef>
                <a:spcPts val="200"/>
              </a:spcBef>
              <a:defRPr sz="900">
                <a:solidFill>
                  <a:srgbClr val="38A3E8"/>
                </a:solidFill>
                <a:latin typeface="Arial"/>
              </a:defRPr>
            </a:pPr>
            <a:r>
              <a:t>Verified Agronomist / Scientist</a:t>
            </a:r>
          </a:p>
          <a:p>
            <a:pPr>
              <a:spcBef>
                <a:spcPts val="800"/>
              </a:spcBef>
              <a:defRPr sz="950">
                <a:solidFill>
                  <a:srgbClr val="B7C4D0"/>
                </a:solidFill>
                <a:latin typeface="Arial"/>
              </a:defRPr>
            </a:pPr>
            <a:r>
              <a:t>• Undergo KYC review (degree &amp; PDF CV submission)</a:t>
            </a:r>
          </a:p>
          <a:p>
            <a:pPr>
              <a:spcBef>
                <a:spcPts val="800"/>
              </a:spcBef>
              <a:defRPr sz="950">
                <a:solidFill>
                  <a:srgbClr val="B7C4D0"/>
                </a:solidFill>
                <a:latin typeface="Arial"/>
              </a:defRPr>
            </a:pPr>
            <a:r>
              <a:t>• Set custom consultation fees (e.g. ₹500/slot)</a:t>
            </a:r>
          </a:p>
          <a:p>
            <a:pPr>
              <a:spcBef>
                <a:spcPts val="800"/>
              </a:spcBef>
              <a:defRPr sz="950">
                <a:solidFill>
                  <a:srgbClr val="B7C4D0"/>
                </a:solidFill>
                <a:latin typeface="Arial"/>
              </a:defRPr>
            </a:pPr>
            <a:r>
              <a:t>• Configure date &amp; 30-minute availability slots</a:t>
            </a:r>
          </a:p>
          <a:p>
            <a:pPr>
              <a:spcBef>
                <a:spcPts val="800"/>
              </a:spcBef>
              <a:defRPr sz="950">
                <a:solidFill>
                  <a:srgbClr val="B7C4D0"/>
                </a:solidFill>
                <a:latin typeface="Arial"/>
              </a:defRPr>
            </a:pPr>
            <a:r>
              <a:t>• Provide Google Meet consultation links</a:t>
            </a:r>
          </a:p>
          <a:p>
            <a:pPr>
              <a:spcBef>
                <a:spcPts val="800"/>
              </a:spcBef>
              <a:defRPr sz="950">
                <a:solidFill>
                  <a:srgbClr val="B7C4D0"/>
                </a:solidFill>
                <a:latin typeface="Arial"/>
              </a:defRPr>
            </a:pPr>
            <a:r>
              <a:t>• Request platform broadcast announcements</a:t>
            </a:r>
          </a:p>
        </p:txBody>
      </p:sp>
      <p:sp>
        <p:nvSpPr>
          <p:cNvPr id="14" name="Rounded Rectangle 13"/>
          <p:cNvSpPr/>
          <p:nvPr/>
        </p:nvSpPr>
        <p:spPr>
          <a:xfrm>
            <a:off x="6035040" y="1188720"/>
            <a:ext cx="2514600" cy="3291840"/>
          </a:xfrm>
          <a:prstGeom prst="roundRect">
            <a:avLst/>
          </a:prstGeom>
          <a:solidFill>
            <a:srgbClr val="151F2B"/>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188720"/>
            <a:ext cx="2514600"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99632" y="1325880"/>
            <a:ext cx="2185416" cy="3017520"/>
          </a:xfrm>
          <a:prstGeom prst="rect">
            <a:avLst/>
          </a:prstGeom>
          <a:noFill/>
        </p:spPr>
        <p:txBody>
          <a:bodyPr wrap="square" lIns="0" rIns="0" tIns="0" bIns="0">
            <a:spAutoFit/>
          </a:bodyPr>
          <a:lstStyle/>
          <a:p>
            <a:pPr>
              <a:defRPr sz="1350" b="1">
                <a:solidFill>
                  <a:srgbClr val="F2F5F7"/>
                </a:solidFill>
                <a:latin typeface="Arial"/>
              </a:defRPr>
            </a:pPr>
            <a:r>
              <a:t>Administrator</a:t>
            </a:r>
          </a:p>
          <a:p>
            <a:pPr>
              <a:spcBef>
                <a:spcPts val="200"/>
              </a:spcBef>
              <a:defRPr sz="900">
                <a:solidFill>
                  <a:srgbClr val="F5A623"/>
                </a:solidFill>
                <a:latin typeface="Arial"/>
              </a:defRPr>
            </a:pPr>
            <a:r>
              <a:t>Platform Governance &amp; Trust</a:t>
            </a:r>
          </a:p>
          <a:p>
            <a:pPr>
              <a:spcBef>
                <a:spcPts val="800"/>
              </a:spcBef>
              <a:defRPr sz="950">
                <a:solidFill>
                  <a:srgbClr val="B7C4D0"/>
                </a:solidFill>
                <a:latin typeface="Arial"/>
              </a:defRPr>
            </a:pPr>
            <a:r>
              <a:t>• Review &amp; approve/reject expert KYC applications</a:t>
            </a:r>
          </a:p>
          <a:p>
            <a:pPr>
              <a:spcBef>
                <a:spcPts val="800"/>
              </a:spcBef>
              <a:defRPr sz="950">
                <a:solidFill>
                  <a:srgbClr val="B7C4D0"/>
                </a:solidFill>
                <a:latin typeface="Arial"/>
              </a:defRPr>
            </a:pPr>
            <a:r>
              <a:t>• Inspect uploaded CV resumes securely via storage</a:t>
            </a:r>
          </a:p>
          <a:p>
            <a:pPr>
              <a:spcBef>
                <a:spcPts val="800"/>
              </a:spcBef>
              <a:defRPr sz="950">
                <a:solidFill>
                  <a:srgbClr val="B7C4D0"/>
                </a:solidFill>
                <a:latin typeface="Arial"/>
              </a:defRPr>
            </a:pPr>
            <a:r>
              <a:t>• Audit completed &amp; cancelled consultation meetings</a:t>
            </a:r>
          </a:p>
          <a:p>
            <a:pPr>
              <a:spcBef>
                <a:spcPts val="800"/>
              </a:spcBef>
              <a:defRPr sz="950">
                <a:solidFill>
                  <a:srgbClr val="B7C4D0"/>
                </a:solidFill>
                <a:latin typeface="Arial"/>
              </a:defRPr>
            </a:pPr>
            <a:r>
              <a:t>• Issue full/partial refunds with written audit logs</a:t>
            </a:r>
          </a:p>
          <a:p>
            <a:pPr>
              <a:spcBef>
                <a:spcPts val="800"/>
              </a:spcBef>
              <a:defRPr sz="950">
                <a:solidFill>
                  <a:srgbClr val="B7C4D0"/>
                </a:solidFill>
                <a:latin typeface="Arial"/>
              </a:defRPr>
            </a:pPr>
            <a:r>
              <a:t>• Publish system-wide broadcast advisories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B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046720" cy="228600"/>
          </a:xfrm>
          <a:prstGeom prst="rect">
            <a:avLst/>
          </a:prstGeom>
          <a:noFill/>
        </p:spPr>
        <p:txBody>
          <a:bodyPr wrap="square" lIns="0" rIns="0" tIns="0" bIns="0">
            <a:spAutoFit/>
          </a:bodyPr>
          <a:lstStyle/>
          <a:p>
            <a:pPr>
              <a:defRPr sz="950" b="1">
                <a:solidFill>
                  <a:srgbClr val="38A3E8"/>
                </a:solidFill>
                <a:latin typeface="Arial"/>
              </a:defRPr>
            </a:pPr>
            <a:r>
              <a:t>AUTHENTICATION &amp; SETUP</a:t>
            </a:r>
          </a:p>
        </p:txBody>
      </p:sp>
      <p:sp>
        <p:nvSpPr>
          <p:cNvPr id="4" name="TextBox 3"/>
          <p:cNvSpPr txBox="1"/>
          <p:nvPr/>
        </p:nvSpPr>
        <p:spPr>
          <a:xfrm>
            <a:off x="548640" y="585216"/>
            <a:ext cx="8046720" cy="502920"/>
          </a:xfrm>
          <a:prstGeom prst="rect">
            <a:avLst/>
          </a:prstGeom>
          <a:noFill/>
        </p:spPr>
        <p:txBody>
          <a:bodyPr wrap="square" lIns="0" rIns="0" tIns="0" bIns="0">
            <a:spAutoFit/>
          </a:bodyPr>
          <a:lstStyle/>
          <a:p>
            <a:pPr>
              <a:defRPr sz="2200" b="1">
                <a:solidFill>
                  <a:srgbClr val="F2F5F7"/>
                </a:solidFill>
                <a:latin typeface="Arial"/>
              </a:defRPr>
            </a:pPr>
            <a:r>
              <a:t>Farmer Onboarding &amp; Regional Personalization</a:t>
            </a:r>
          </a:p>
        </p:txBody>
      </p:sp>
      <p:sp>
        <p:nvSpPr>
          <p:cNvPr id="5" name="Rectangle 4"/>
          <p:cNvSpPr/>
          <p:nvPr/>
        </p:nvSpPr>
        <p:spPr>
          <a:xfrm>
            <a:off x="548640" y="4709160"/>
            <a:ext cx="8046720" cy="13716"/>
          </a:xfrm>
          <a:prstGeom prst="rect">
            <a:avLst/>
          </a:prstGeom>
          <a:solidFill>
            <a:srgbClr val="2A3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4754880"/>
            <a:ext cx="6858000" cy="274320"/>
          </a:xfrm>
          <a:prstGeom prst="rect">
            <a:avLst/>
          </a:prstGeom>
          <a:noFill/>
        </p:spPr>
        <p:txBody>
          <a:bodyPr wrap="none" lIns="0" rIns="0" tIns="0" bIns="0">
            <a:spAutoFit/>
          </a:bodyPr>
          <a:lstStyle/>
          <a:p>
            <a:pPr>
              <a:defRPr sz="850">
                <a:solidFill>
                  <a:srgbClr val="788CA0"/>
                </a:solidFill>
                <a:latin typeface="Arial"/>
              </a:defRPr>
            </a:pPr>
            <a:r>
              <a:t>AGROCONNECT  ·  MCA PROJECT REVIEW</a:t>
            </a:r>
          </a:p>
        </p:txBody>
      </p:sp>
      <p:sp>
        <p:nvSpPr>
          <p:cNvPr id="7" name="TextBox 6"/>
          <p:cNvSpPr txBox="1"/>
          <p:nvPr/>
        </p:nvSpPr>
        <p:spPr>
          <a:xfrm>
            <a:off x="7680960" y="4754880"/>
            <a:ext cx="914400" cy="274320"/>
          </a:xfrm>
          <a:prstGeom prst="rect">
            <a:avLst/>
          </a:prstGeom>
          <a:noFill/>
        </p:spPr>
        <p:txBody>
          <a:bodyPr wrap="none" lIns="0" rIns="0" tIns="0" bIns="0">
            <a:spAutoFit/>
          </a:bodyPr>
          <a:lstStyle/>
          <a:p>
            <a:pPr algn="r">
              <a:defRPr sz="900" b="1">
                <a:solidFill>
                  <a:srgbClr val="788CA0"/>
                </a:solidFill>
                <a:latin typeface="Arial"/>
              </a:defRPr>
            </a:pPr>
            <a:r>
              <a:t>6</a:t>
            </a:r>
          </a:p>
        </p:txBody>
      </p:sp>
      <p:sp>
        <p:nvSpPr>
          <p:cNvPr id="8" name="TextBox 7"/>
          <p:cNvSpPr txBox="1"/>
          <p:nvPr/>
        </p:nvSpPr>
        <p:spPr>
          <a:xfrm>
            <a:off x="548640" y="1188720"/>
            <a:ext cx="4389120" cy="3291840"/>
          </a:xfrm>
          <a:prstGeom prst="rect">
            <a:avLst/>
          </a:prstGeom>
          <a:noFill/>
        </p:spPr>
        <p:txBody>
          <a:bodyPr wrap="square" lIns="0" rIns="0" tIns="0" bIns="0">
            <a:spAutoFit/>
          </a:bodyPr>
          <a:lstStyle/>
          <a:p>
            <a:pPr>
              <a:defRPr sz="1200" b="1">
                <a:solidFill>
                  <a:srgbClr val="2ECC71"/>
                </a:solidFill>
                <a:latin typeface="Arial"/>
              </a:defRPr>
            </a:pPr>
            <a:r>
              <a:t>1. Multiple Authentication Options</a:t>
            </a:r>
          </a:p>
          <a:p>
            <a:pPr>
              <a:spcBef>
                <a:spcPts val="200"/>
              </a:spcBef>
              <a:defRPr sz="950">
                <a:solidFill>
                  <a:srgbClr val="B7C4D0"/>
                </a:solidFill>
                <a:latin typeface="Arial"/>
              </a:defRPr>
            </a:pPr>
            <a:r>
              <a:t>Supports secure Email/Password authentication and Google OAuth 2.0 with native Android deep linking.</a:t>
            </a:r>
          </a:p>
          <a:p>
            <a:pPr>
              <a:spcBef>
                <a:spcPts val="1200"/>
              </a:spcBef>
              <a:defRPr sz="1200" b="1">
                <a:solidFill>
                  <a:srgbClr val="2ECC71"/>
                </a:solidFill>
                <a:latin typeface="Arial"/>
              </a:defRPr>
            </a:pPr>
            <a:r>
              <a:t>2. Kerala District Localization</a:t>
            </a:r>
          </a:p>
          <a:p>
            <a:pPr>
              <a:spcBef>
                <a:spcPts val="200"/>
              </a:spcBef>
              <a:defRPr sz="950">
                <a:solidFill>
                  <a:srgbClr val="B7C4D0"/>
                </a:solidFill>
                <a:latin typeface="Arial"/>
              </a:defRPr>
            </a:pPr>
            <a:r>
              <a:t>Tailored specifically for Kerala agriculture. Farmers select from four launch agricultural districts: Kannur, Pathanamthitta, Idukki, and Kottayam.</a:t>
            </a:r>
          </a:p>
          <a:p>
            <a:pPr>
              <a:spcBef>
                <a:spcPts val="1200"/>
              </a:spcBef>
              <a:defRPr sz="1200" b="1">
                <a:solidFill>
                  <a:srgbClr val="2ECC71"/>
                </a:solidFill>
                <a:latin typeface="Arial"/>
              </a:defRPr>
            </a:pPr>
            <a:r>
              <a:t>3. Privacy-First Approach</a:t>
            </a:r>
          </a:p>
          <a:p>
            <a:pPr>
              <a:spcBef>
                <a:spcPts val="200"/>
              </a:spcBef>
              <a:defRPr sz="950">
                <a:solidFill>
                  <a:srgbClr val="B7C4D0"/>
                </a:solidFill>
                <a:latin typeface="Arial"/>
              </a:defRPr>
            </a:pPr>
            <a:r>
              <a:t>Eliminates intrusive background GPS tracking. Regional context is established strictly through user-selected district preferences.</a:t>
            </a:r>
          </a:p>
          <a:p>
            <a:pPr>
              <a:spcBef>
                <a:spcPts val="1200"/>
              </a:spcBef>
              <a:defRPr sz="1200" b="1">
                <a:solidFill>
                  <a:srgbClr val="2ECC71"/>
                </a:solidFill>
                <a:latin typeface="Arial"/>
              </a:defRPr>
            </a:pPr>
            <a:r>
              <a:t>4. Profile Management</a:t>
            </a:r>
          </a:p>
          <a:p>
            <a:pPr>
              <a:spcBef>
                <a:spcPts val="200"/>
              </a:spcBef>
              <a:defRPr sz="950">
                <a:solidFill>
                  <a:srgbClr val="B7C4D0"/>
                </a:solidFill>
                <a:latin typeface="Arial"/>
              </a:defRPr>
            </a:pPr>
            <a:r>
              <a:t>Displays farmer bio, connection count, and active posts while enabling straightforward profile editing.</a:t>
            </a:r>
          </a:p>
        </p:txBody>
      </p:sp>
      <p:sp>
        <p:nvSpPr>
          <p:cNvPr id="9" name="Rounded Rectangle 8"/>
          <p:cNvSpPr/>
          <p:nvPr/>
        </p:nvSpPr>
        <p:spPr>
          <a:xfrm>
            <a:off x="5192904" y="1152144"/>
            <a:ext cx="1547110" cy="3364992"/>
          </a:xfrm>
          <a:prstGeom prst="roundRect">
            <a:avLst/>
          </a:prstGeom>
          <a:solidFill>
            <a:srgbClr val="101822"/>
          </a:solidFill>
          <a:ln w="12700">
            <a:solidFill>
              <a:srgbClr val="38A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ogin_screen.png"/>
          <p:cNvPicPr>
            <a:picLocks noChangeAspect="1"/>
          </p:cNvPicPr>
          <p:nvPr/>
        </p:nvPicPr>
        <p:blipFill>
          <a:blip r:embed="rId2"/>
          <a:stretch>
            <a:fillRect/>
          </a:stretch>
        </p:blipFill>
        <p:spPr>
          <a:xfrm>
            <a:off x="5229480" y="1188720"/>
            <a:ext cx="1473958" cy="3291840"/>
          </a:xfrm>
          <a:prstGeom prst="rect">
            <a:avLst/>
          </a:prstGeom>
        </p:spPr>
      </p:pic>
      <p:sp>
        <p:nvSpPr>
          <p:cNvPr id="11" name="TextBox 10"/>
          <p:cNvSpPr txBox="1"/>
          <p:nvPr/>
        </p:nvSpPr>
        <p:spPr>
          <a:xfrm>
            <a:off x="5120640" y="4535424"/>
            <a:ext cx="1691640" cy="320040"/>
          </a:xfrm>
          <a:prstGeom prst="rect">
            <a:avLst/>
          </a:prstGeom>
          <a:noFill/>
        </p:spPr>
        <p:txBody>
          <a:bodyPr wrap="square" lIns="0" rIns="0" tIns="0" bIns="0">
            <a:spAutoFit/>
          </a:bodyPr>
          <a:lstStyle/>
          <a:p>
            <a:pPr algn="ctr">
              <a:defRPr sz="850" i="1">
                <a:solidFill>
                  <a:srgbClr val="B7C4D0"/>
                </a:solidFill>
                <a:latin typeface="Arial"/>
              </a:defRPr>
            </a:pPr>
            <a:r>
              <a:t>Login / Sign In</a:t>
            </a:r>
          </a:p>
        </p:txBody>
      </p:sp>
      <p:sp>
        <p:nvSpPr>
          <p:cNvPr id="12" name="Rounded Rectangle 11"/>
          <p:cNvSpPr/>
          <p:nvPr/>
        </p:nvSpPr>
        <p:spPr>
          <a:xfrm>
            <a:off x="7021704" y="1152144"/>
            <a:ext cx="1547110" cy="3364992"/>
          </a:xfrm>
          <a:prstGeom prst="roundRect">
            <a:avLst/>
          </a:prstGeom>
          <a:solidFill>
            <a:srgbClr val="101822"/>
          </a:solidFill>
          <a:ln w="12700">
            <a:solidFill>
              <a:srgbClr val="38A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farmer_profile.png"/>
          <p:cNvPicPr>
            <a:picLocks noChangeAspect="1"/>
          </p:cNvPicPr>
          <p:nvPr/>
        </p:nvPicPr>
        <p:blipFill>
          <a:blip r:embed="rId3"/>
          <a:stretch>
            <a:fillRect/>
          </a:stretch>
        </p:blipFill>
        <p:spPr>
          <a:xfrm>
            <a:off x="7058280" y="1188720"/>
            <a:ext cx="1473958" cy="3291840"/>
          </a:xfrm>
          <a:prstGeom prst="rect">
            <a:avLst/>
          </a:prstGeom>
        </p:spPr>
      </p:pic>
      <p:sp>
        <p:nvSpPr>
          <p:cNvPr id="14" name="TextBox 13"/>
          <p:cNvSpPr txBox="1"/>
          <p:nvPr/>
        </p:nvSpPr>
        <p:spPr>
          <a:xfrm>
            <a:off x="6949440" y="4535424"/>
            <a:ext cx="1691640" cy="320040"/>
          </a:xfrm>
          <a:prstGeom prst="rect">
            <a:avLst/>
          </a:prstGeom>
          <a:noFill/>
        </p:spPr>
        <p:txBody>
          <a:bodyPr wrap="square" lIns="0" rIns="0" tIns="0" bIns="0">
            <a:spAutoFit/>
          </a:bodyPr>
          <a:lstStyle/>
          <a:p>
            <a:pPr algn="ctr">
              <a:defRPr sz="850" i="1">
                <a:solidFill>
                  <a:srgbClr val="B7C4D0"/>
                </a:solidFill>
                <a:latin typeface="Arial"/>
              </a:defRPr>
            </a:pPr>
            <a:r>
              <a:t>Farmer Profile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B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046720" cy="228600"/>
          </a:xfrm>
          <a:prstGeom prst="rect">
            <a:avLst/>
          </a:prstGeom>
          <a:noFill/>
        </p:spPr>
        <p:txBody>
          <a:bodyPr wrap="square" lIns="0" rIns="0" tIns="0" bIns="0">
            <a:spAutoFit/>
          </a:bodyPr>
          <a:lstStyle/>
          <a:p>
            <a:pPr>
              <a:defRPr sz="950" b="1">
                <a:solidFill>
                  <a:srgbClr val="38A3E8"/>
                </a:solidFill>
                <a:latin typeface="Arial"/>
              </a:defRPr>
            </a:pPr>
            <a:r>
              <a:t>COMMUNITY FEED</a:t>
            </a:r>
          </a:p>
        </p:txBody>
      </p:sp>
      <p:sp>
        <p:nvSpPr>
          <p:cNvPr id="4" name="TextBox 3"/>
          <p:cNvSpPr txBox="1"/>
          <p:nvPr/>
        </p:nvSpPr>
        <p:spPr>
          <a:xfrm>
            <a:off x="548640" y="585216"/>
            <a:ext cx="8046720" cy="502920"/>
          </a:xfrm>
          <a:prstGeom prst="rect">
            <a:avLst/>
          </a:prstGeom>
          <a:noFill/>
        </p:spPr>
        <p:txBody>
          <a:bodyPr wrap="square" lIns="0" rIns="0" tIns="0" bIns="0">
            <a:spAutoFit/>
          </a:bodyPr>
          <a:lstStyle/>
          <a:p>
            <a:pPr>
              <a:defRPr sz="2200" b="1">
                <a:solidFill>
                  <a:srgbClr val="F2F5F7"/>
                </a:solidFill>
                <a:latin typeface="Arial"/>
              </a:defRPr>
            </a:pPr>
            <a:r>
              <a:t>District-First Feed Architecture</a:t>
            </a:r>
          </a:p>
        </p:txBody>
      </p:sp>
      <p:sp>
        <p:nvSpPr>
          <p:cNvPr id="5" name="Rectangle 4"/>
          <p:cNvSpPr/>
          <p:nvPr/>
        </p:nvSpPr>
        <p:spPr>
          <a:xfrm>
            <a:off x="548640" y="4709160"/>
            <a:ext cx="8046720" cy="13716"/>
          </a:xfrm>
          <a:prstGeom prst="rect">
            <a:avLst/>
          </a:prstGeom>
          <a:solidFill>
            <a:srgbClr val="2A3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4754880"/>
            <a:ext cx="6858000" cy="274320"/>
          </a:xfrm>
          <a:prstGeom prst="rect">
            <a:avLst/>
          </a:prstGeom>
          <a:noFill/>
        </p:spPr>
        <p:txBody>
          <a:bodyPr wrap="none" lIns="0" rIns="0" tIns="0" bIns="0">
            <a:spAutoFit/>
          </a:bodyPr>
          <a:lstStyle/>
          <a:p>
            <a:pPr>
              <a:defRPr sz="850">
                <a:solidFill>
                  <a:srgbClr val="788CA0"/>
                </a:solidFill>
                <a:latin typeface="Arial"/>
              </a:defRPr>
            </a:pPr>
            <a:r>
              <a:t>AGROCONNECT  ·  MCA PROJECT REVIEW</a:t>
            </a:r>
          </a:p>
        </p:txBody>
      </p:sp>
      <p:sp>
        <p:nvSpPr>
          <p:cNvPr id="7" name="TextBox 6"/>
          <p:cNvSpPr txBox="1"/>
          <p:nvPr/>
        </p:nvSpPr>
        <p:spPr>
          <a:xfrm>
            <a:off x="7680960" y="4754880"/>
            <a:ext cx="914400" cy="274320"/>
          </a:xfrm>
          <a:prstGeom prst="rect">
            <a:avLst/>
          </a:prstGeom>
          <a:noFill/>
        </p:spPr>
        <p:txBody>
          <a:bodyPr wrap="none" lIns="0" rIns="0" tIns="0" bIns="0">
            <a:spAutoFit/>
          </a:bodyPr>
          <a:lstStyle/>
          <a:p>
            <a:pPr algn="r">
              <a:defRPr sz="900" b="1">
                <a:solidFill>
                  <a:srgbClr val="788CA0"/>
                </a:solidFill>
                <a:latin typeface="Arial"/>
              </a:defRPr>
            </a:pPr>
            <a:r>
              <a:t>7</a:t>
            </a:r>
          </a:p>
        </p:txBody>
      </p:sp>
      <p:sp>
        <p:nvSpPr>
          <p:cNvPr id="8" name="TextBox 7"/>
          <p:cNvSpPr txBox="1"/>
          <p:nvPr/>
        </p:nvSpPr>
        <p:spPr>
          <a:xfrm>
            <a:off x="548640" y="1188720"/>
            <a:ext cx="4754880" cy="3291840"/>
          </a:xfrm>
          <a:prstGeom prst="rect">
            <a:avLst/>
          </a:prstGeom>
          <a:noFill/>
        </p:spPr>
        <p:txBody>
          <a:bodyPr wrap="square" lIns="0" rIns="0" tIns="0" bIns="0">
            <a:spAutoFit/>
          </a:bodyPr>
          <a:lstStyle/>
          <a:p>
            <a:pPr>
              <a:defRPr sz="1200" b="1">
                <a:solidFill>
                  <a:srgbClr val="38A3E8"/>
                </a:solidFill>
                <a:latin typeface="Arial"/>
              </a:defRPr>
            </a:pPr>
            <a:r>
              <a:t>Hyper-Local Context Priority</a:t>
            </a:r>
          </a:p>
          <a:p>
            <a:pPr>
              <a:spcBef>
                <a:spcPts val="300"/>
              </a:spcBef>
              <a:defRPr sz="950">
                <a:solidFill>
                  <a:srgbClr val="B7C4D0"/>
                </a:solidFill>
                <a:latin typeface="Arial"/>
              </a:defRPr>
            </a:pPr>
            <a:r>
              <a:t>A farmer from Kottayam immediately sees agricultural advisories and pest observations from Kottayam first, ensuring immediate relevance to their climate.</a:t>
            </a:r>
          </a:p>
          <a:p>
            <a:pPr>
              <a:spcBef>
                <a:spcPts val="1200"/>
              </a:spcBef>
              <a:defRPr sz="1200" b="1">
                <a:solidFill>
                  <a:srgbClr val="38A3E8"/>
                </a:solidFill>
                <a:latin typeface="Arial"/>
              </a:defRPr>
            </a:pPr>
            <a:r>
              <a:t>PostgreSQL Server-Side Sorting</a:t>
            </a:r>
          </a:p>
          <a:p>
            <a:pPr>
              <a:spcBef>
                <a:spcPts val="300"/>
              </a:spcBef>
              <a:defRPr sz="950">
                <a:solidFill>
                  <a:srgbClr val="B7C4D0"/>
                </a:solidFill>
                <a:latin typeface="Arial"/>
              </a:defRPr>
            </a:pPr>
            <a:r>
              <a:t>Implemented via a specialized database stored procedure (RPC) rather than slow client filtering, sorting matching district records ahead of statewide posts.</a:t>
            </a:r>
          </a:p>
          <a:p>
            <a:pPr>
              <a:spcBef>
                <a:spcPts val="1200"/>
              </a:spcBef>
              <a:defRPr sz="1200" b="1">
                <a:solidFill>
                  <a:srgbClr val="38A3E8"/>
                </a:solidFill>
                <a:latin typeface="Arial"/>
              </a:defRPr>
            </a:pPr>
            <a:r>
              <a:t>Stable Keyset Pagination</a:t>
            </a:r>
          </a:p>
          <a:p>
            <a:pPr>
              <a:spcBef>
                <a:spcPts val="300"/>
              </a:spcBef>
              <a:defRPr sz="950">
                <a:solidFill>
                  <a:srgbClr val="B7C4D0"/>
                </a:solidFill>
                <a:latin typeface="Arial"/>
              </a:defRPr>
            </a:pPr>
            <a:r>
              <a:t>Eliminates duplicate items or skipped posts across infinite scrolling, preserving feed performance even over 2G/3G rural networks.</a:t>
            </a:r>
          </a:p>
          <a:p>
            <a:pPr>
              <a:spcBef>
                <a:spcPts val="1200"/>
              </a:spcBef>
              <a:defRPr sz="1200" b="1">
                <a:solidFill>
                  <a:srgbClr val="38A3E8"/>
                </a:solidFill>
                <a:latin typeface="Arial"/>
              </a:defRPr>
            </a:pPr>
            <a:r>
              <a:t>Peer &amp; Expert Collaboration</a:t>
            </a:r>
          </a:p>
          <a:p>
            <a:pPr>
              <a:spcBef>
                <a:spcPts val="300"/>
              </a:spcBef>
              <a:defRPr sz="950">
                <a:solidFill>
                  <a:srgbClr val="B7C4D0"/>
                </a:solidFill>
                <a:latin typeface="Arial"/>
              </a:defRPr>
            </a:pPr>
            <a:r>
              <a:t>Farmers post field queries, and verified agronomists answer directly with a distinctive green verified badge.</a:t>
            </a:r>
          </a:p>
        </p:txBody>
      </p:sp>
      <p:sp>
        <p:nvSpPr>
          <p:cNvPr id="9" name="Rounded Rectangle 8"/>
          <p:cNvSpPr/>
          <p:nvPr/>
        </p:nvSpPr>
        <p:spPr>
          <a:xfrm>
            <a:off x="6272101" y="1060704"/>
            <a:ext cx="1628996" cy="3547872"/>
          </a:xfrm>
          <a:prstGeom prst="roundRect">
            <a:avLst/>
          </a:prstGeom>
          <a:solidFill>
            <a:srgbClr val="101822"/>
          </a:solidFill>
          <a:ln w="12700">
            <a:solidFill>
              <a:srgbClr val="38A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armer_feed.png"/>
          <p:cNvPicPr>
            <a:picLocks noChangeAspect="1"/>
          </p:cNvPicPr>
          <p:nvPr/>
        </p:nvPicPr>
        <p:blipFill>
          <a:blip r:embed="rId2"/>
          <a:stretch>
            <a:fillRect/>
          </a:stretch>
        </p:blipFill>
        <p:spPr>
          <a:xfrm>
            <a:off x="6308677" y="1097280"/>
            <a:ext cx="1555844" cy="3474720"/>
          </a:xfrm>
          <a:prstGeom prst="rect">
            <a:avLst/>
          </a:prstGeom>
        </p:spPr>
      </p:pic>
      <p:sp>
        <p:nvSpPr>
          <p:cNvPr id="11" name="TextBox 10"/>
          <p:cNvSpPr txBox="1"/>
          <p:nvPr/>
        </p:nvSpPr>
        <p:spPr>
          <a:xfrm>
            <a:off x="5577840" y="4626864"/>
            <a:ext cx="3017520" cy="320040"/>
          </a:xfrm>
          <a:prstGeom prst="rect">
            <a:avLst/>
          </a:prstGeom>
          <a:noFill/>
        </p:spPr>
        <p:txBody>
          <a:bodyPr wrap="square" lIns="0" rIns="0" tIns="0" bIns="0">
            <a:spAutoFit/>
          </a:bodyPr>
          <a:lstStyle/>
          <a:p>
            <a:pPr algn="ctr">
              <a:defRPr sz="850" i="1">
                <a:solidFill>
                  <a:srgbClr val="B7C4D0"/>
                </a:solidFill>
                <a:latin typeface="Arial"/>
              </a:defRPr>
            </a:pPr>
            <a:r>
              <a:t>District-Prioritized Feed on Android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B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046720" cy="228600"/>
          </a:xfrm>
          <a:prstGeom prst="rect">
            <a:avLst/>
          </a:prstGeom>
          <a:noFill/>
        </p:spPr>
        <p:txBody>
          <a:bodyPr wrap="square" lIns="0" rIns="0" tIns="0" bIns="0">
            <a:spAutoFit/>
          </a:bodyPr>
          <a:lstStyle/>
          <a:p>
            <a:pPr>
              <a:defRPr sz="950" b="1">
                <a:solidFill>
                  <a:srgbClr val="38A3E8"/>
                </a:solidFill>
                <a:latin typeface="Arial"/>
              </a:defRPr>
            </a:pPr>
            <a:r>
              <a:t>SOCIAL INTERACTION</a:t>
            </a:r>
          </a:p>
        </p:txBody>
      </p:sp>
      <p:sp>
        <p:nvSpPr>
          <p:cNvPr id="4" name="TextBox 3"/>
          <p:cNvSpPr txBox="1"/>
          <p:nvPr/>
        </p:nvSpPr>
        <p:spPr>
          <a:xfrm>
            <a:off x="548640" y="585216"/>
            <a:ext cx="8046720" cy="502920"/>
          </a:xfrm>
          <a:prstGeom prst="rect">
            <a:avLst/>
          </a:prstGeom>
          <a:noFill/>
        </p:spPr>
        <p:txBody>
          <a:bodyPr wrap="square" lIns="0" rIns="0" tIns="0" bIns="0">
            <a:spAutoFit/>
          </a:bodyPr>
          <a:lstStyle/>
          <a:p>
            <a:pPr>
              <a:defRPr sz="2200" b="1">
                <a:solidFill>
                  <a:srgbClr val="F2F5F7"/>
                </a:solidFill>
                <a:latin typeface="Arial"/>
              </a:defRPr>
            </a:pPr>
            <a:r>
              <a:t>Multimedia Posts &amp; Field Observations</a:t>
            </a:r>
          </a:p>
        </p:txBody>
      </p:sp>
      <p:sp>
        <p:nvSpPr>
          <p:cNvPr id="5" name="Rectangle 4"/>
          <p:cNvSpPr/>
          <p:nvPr/>
        </p:nvSpPr>
        <p:spPr>
          <a:xfrm>
            <a:off x="548640" y="4709160"/>
            <a:ext cx="8046720" cy="13716"/>
          </a:xfrm>
          <a:prstGeom prst="rect">
            <a:avLst/>
          </a:prstGeom>
          <a:solidFill>
            <a:srgbClr val="2A3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4754880"/>
            <a:ext cx="6858000" cy="274320"/>
          </a:xfrm>
          <a:prstGeom prst="rect">
            <a:avLst/>
          </a:prstGeom>
          <a:noFill/>
        </p:spPr>
        <p:txBody>
          <a:bodyPr wrap="none" lIns="0" rIns="0" tIns="0" bIns="0">
            <a:spAutoFit/>
          </a:bodyPr>
          <a:lstStyle/>
          <a:p>
            <a:pPr>
              <a:defRPr sz="850">
                <a:solidFill>
                  <a:srgbClr val="788CA0"/>
                </a:solidFill>
                <a:latin typeface="Arial"/>
              </a:defRPr>
            </a:pPr>
            <a:r>
              <a:t>AGROCONNECT  ·  MCA PROJECT REVIEW</a:t>
            </a:r>
          </a:p>
        </p:txBody>
      </p:sp>
      <p:sp>
        <p:nvSpPr>
          <p:cNvPr id="7" name="TextBox 6"/>
          <p:cNvSpPr txBox="1"/>
          <p:nvPr/>
        </p:nvSpPr>
        <p:spPr>
          <a:xfrm>
            <a:off x="7680960" y="4754880"/>
            <a:ext cx="914400" cy="274320"/>
          </a:xfrm>
          <a:prstGeom prst="rect">
            <a:avLst/>
          </a:prstGeom>
          <a:noFill/>
        </p:spPr>
        <p:txBody>
          <a:bodyPr wrap="none" lIns="0" rIns="0" tIns="0" bIns="0">
            <a:spAutoFit/>
          </a:bodyPr>
          <a:lstStyle/>
          <a:p>
            <a:pPr algn="r">
              <a:defRPr sz="900" b="1">
                <a:solidFill>
                  <a:srgbClr val="788CA0"/>
                </a:solidFill>
                <a:latin typeface="Arial"/>
              </a:defRPr>
            </a:pPr>
            <a:r>
              <a:t>8</a:t>
            </a:r>
          </a:p>
        </p:txBody>
      </p:sp>
      <p:sp>
        <p:nvSpPr>
          <p:cNvPr id="8" name="TextBox 7"/>
          <p:cNvSpPr txBox="1"/>
          <p:nvPr/>
        </p:nvSpPr>
        <p:spPr>
          <a:xfrm>
            <a:off x="548640" y="1188720"/>
            <a:ext cx="4754880" cy="3291840"/>
          </a:xfrm>
          <a:prstGeom prst="rect">
            <a:avLst/>
          </a:prstGeom>
          <a:noFill/>
        </p:spPr>
        <p:txBody>
          <a:bodyPr wrap="square" lIns="0" rIns="0" tIns="0" bIns="0">
            <a:spAutoFit/>
          </a:bodyPr>
          <a:lstStyle/>
          <a:p>
            <a:pPr>
              <a:defRPr sz="1200" b="1">
                <a:solidFill>
                  <a:srgbClr val="2ECC71"/>
                </a:solidFill>
                <a:latin typeface="Arial"/>
              </a:defRPr>
            </a:pPr>
            <a:r>
              <a:t>Video &amp; Image Field Uploads</a:t>
            </a:r>
          </a:p>
          <a:p>
            <a:pPr>
              <a:spcBef>
                <a:spcPts val="300"/>
              </a:spcBef>
              <a:defRPr sz="950">
                <a:solidFill>
                  <a:srgbClr val="B7C4D0"/>
                </a:solidFill>
                <a:latin typeface="Arial"/>
              </a:defRPr>
            </a:pPr>
            <a:r>
              <a:t>Farmers can record video walkthroughs of crops showing pest movement, or upload high-resolution photos of damaged foliage directly into Supabase Storage.</a:t>
            </a:r>
          </a:p>
          <a:p>
            <a:pPr>
              <a:spcBef>
                <a:spcPts val="1200"/>
              </a:spcBef>
              <a:defRPr sz="1200" b="1">
                <a:solidFill>
                  <a:srgbClr val="2ECC71"/>
                </a:solidFill>
                <a:latin typeface="Arial"/>
              </a:defRPr>
            </a:pPr>
            <a:r>
              <a:t>Interactive Engagement</a:t>
            </a:r>
          </a:p>
          <a:p>
            <a:pPr>
              <a:spcBef>
                <a:spcPts val="300"/>
              </a:spcBef>
              <a:defRPr sz="950">
                <a:solidFill>
                  <a:srgbClr val="B7C4D0"/>
                </a:solidFill>
                <a:latin typeface="Arial"/>
              </a:defRPr>
            </a:pPr>
            <a:r>
              <a:t>Community likes, bookmarks, and threaded discussions allow farmers across districts to share pest control tips and cultivation experiences.</a:t>
            </a:r>
          </a:p>
          <a:p>
            <a:pPr>
              <a:spcBef>
                <a:spcPts val="1200"/>
              </a:spcBef>
              <a:defRPr sz="1200" b="1">
                <a:solidFill>
                  <a:srgbClr val="2ECC71"/>
                </a:solidFill>
                <a:latin typeface="Arial"/>
              </a:defRPr>
            </a:pPr>
            <a:r>
              <a:t>Safe Storage Architecture</a:t>
            </a:r>
          </a:p>
          <a:p>
            <a:pPr>
              <a:spcBef>
                <a:spcPts val="300"/>
              </a:spcBef>
              <a:defRPr sz="950">
                <a:solidFill>
                  <a:srgbClr val="B7C4D0"/>
                </a:solidFill>
                <a:latin typeface="Arial"/>
              </a:defRPr>
            </a:pPr>
            <a:r>
              <a:t>Media assets reside in isolated Supabase storage buckets (`post-images`, `post-videos`). Public directory listing is strictly blocked to maintain data integrity.</a:t>
            </a:r>
          </a:p>
          <a:p>
            <a:pPr>
              <a:spcBef>
                <a:spcPts val="1200"/>
              </a:spcBef>
              <a:defRPr sz="1200" b="1">
                <a:solidFill>
                  <a:srgbClr val="2ECC71"/>
                </a:solidFill>
                <a:latin typeface="Arial"/>
              </a:defRPr>
            </a:pPr>
            <a:r>
              <a:t>Instant Agronomist Feedback</a:t>
            </a:r>
          </a:p>
          <a:p>
            <a:pPr>
              <a:spcBef>
                <a:spcPts val="300"/>
              </a:spcBef>
              <a:defRPr sz="950">
                <a:solidFill>
                  <a:srgbClr val="B7C4D0"/>
                </a:solidFill>
                <a:latin typeface="Arial"/>
              </a:defRPr>
            </a:pPr>
            <a:r>
              <a:t>Verified agronomists monitor local feeds and provide verified guidance on farmer posts.</a:t>
            </a:r>
          </a:p>
        </p:txBody>
      </p:sp>
      <p:sp>
        <p:nvSpPr>
          <p:cNvPr id="9" name="Rounded Rectangle 8"/>
          <p:cNvSpPr/>
          <p:nvPr/>
        </p:nvSpPr>
        <p:spPr>
          <a:xfrm>
            <a:off x="6272101" y="1060704"/>
            <a:ext cx="1628996" cy="3547872"/>
          </a:xfrm>
          <a:prstGeom prst="roundRect">
            <a:avLst/>
          </a:prstGeom>
          <a:solidFill>
            <a:srgbClr val="101822"/>
          </a:solidFill>
          <a:ln w="12700">
            <a:solidFill>
              <a:srgbClr val="38A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eed_video_post.png"/>
          <p:cNvPicPr>
            <a:picLocks noChangeAspect="1"/>
          </p:cNvPicPr>
          <p:nvPr/>
        </p:nvPicPr>
        <p:blipFill>
          <a:blip r:embed="rId2"/>
          <a:stretch>
            <a:fillRect/>
          </a:stretch>
        </p:blipFill>
        <p:spPr>
          <a:xfrm>
            <a:off x="6308677" y="1097280"/>
            <a:ext cx="1555844" cy="3474720"/>
          </a:xfrm>
          <a:prstGeom prst="rect">
            <a:avLst/>
          </a:prstGeom>
        </p:spPr>
      </p:pic>
      <p:sp>
        <p:nvSpPr>
          <p:cNvPr id="11" name="TextBox 10"/>
          <p:cNvSpPr txBox="1"/>
          <p:nvPr/>
        </p:nvSpPr>
        <p:spPr>
          <a:xfrm>
            <a:off x="5577840" y="4626864"/>
            <a:ext cx="3017520" cy="320040"/>
          </a:xfrm>
          <a:prstGeom prst="rect">
            <a:avLst/>
          </a:prstGeom>
          <a:noFill/>
        </p:spPr>
        <p:txBody>
          <a:bodyPr wrap="square" lIns="0" rIns="0" tIns="0" bIns="0">
            <a:spAutoFit/>
          </a:bodyPr>
          <a:lstStyle/>
          <a:p>
            <a:pPr algn="ctr">
              <a:defRPr sz="850" i="1">
                <a:solidFill>
                  <a:srgbClr val="B7C4D0"/>
                </a:solidFill>
                <a:latin typeface="Arial"/>
              </a:defRPr>
            </a:pPr>
            <a:r>
              <a:t>Crop Video Observation Card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B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046720" cy="228600"/>
          </a:xfrm>
          <a:prstGeom prst="rect">
            <a:avLst/>
          </a:prstGeom>
          <a:noFill/>
        </p:spPr>
        <p:txBody>
          <a:bodyPr wrap="square" lIns="0" rIns="0" tIns="0" bIns="0">
            <a:spAutoFit/>
          </a:bodyPr>
          <a:lstStyle/>
          <a:p>
            <a:pPr>
              <a:defRPr sz="950" b="1">
                <a:solidFill>
                  <a:srgbClr val="38A3E8"/>
                </a:solidFill>
                <a:latin typeface="Arial"/>
              </a:defRPr>
            </a:pPr>
            <a:r>
              <a:t>INTELLIGENT ASSISTANCE</a:t>
            </a:r>
          </a:p>
        </p:txBody>
      </p:sp>
      <p:sp>
        <p:nvSpPr>
          <p:cNvPr id="4" name="TextBox 3"/>
          <p:cNvSpPr txBox="1"/>
          <p:nvPr/>
        </p:nvSpPr>
        <p:spPr>
          <a:xfrm>
            <a:off x="548640" y="585216"/>
            <a:ext cx="8046720" cy="502920"/>
          </a:xfrm>
          <a:prstGeom prst="rect">
            <a:avLst/>
          </a:prstGeom>
          <a:noFill/>
        </p:spPr>
        <p:txBody>
          <a:bodyPr wrap="square" lIns="0" rIns="0" tIns="0" bIns="0">
            <a:spAutoFit/>
          </a:bodyPr>
          <a:lstStyle/>
          <a:p>
            <a:pPr>
              <a:defRPr sz="2200" b="1">
                <a:solidFill>
                  <a:srgbClr val="F2F5F7"/>
                </a:solidFill>
                <a:latin typeface="Arial"/>
              </a:defRPr>
            </a:pPr>
            <a:r>
              <a:t>PEA: AI-Powered Agricultural Assistant</a:t>
            </a:r>
          </a:p>
        </p:txBody>
      </p:sp>
      <p:sp>
        <p:nvSpPr>
          <p:cNvPr id="5" name="Rectangle 4"/>
          <p:cNvSpPr/>
          <p:nvPr/>
        </p:nvSpPr>
        <p:spPr>
          <a:xfrm>
            <a:off x="548640" y="4709160"/>
            <a:ext cx="8046720" cy="13716"/>
          </a:xfrm>
          <a:prstGeom prst="rect">
            <a:avLst/>
          </a:prstGeom>
          <a:solidFill>
            <a:srgbClr val="2A3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4754880"/>
            <a:ext cx="6858000" cy="274320"/>
          </a:xfrm>
          <a:prstGeom prst="rect">
            <a:avLst/>
          </a:prstGeom>
          <a:noFill/>
        </p:spPr>
        <p:txBody>
          <a:bodyPr wrap="none" lIns="0" rIns="0" tIns="0" bIns="0">
            <a:spAutoFit/>
          </a:bodyPr>
          <a:lstStyle/>
          <a:p>
            <a:pPr>
              <a:defRPr sz="850">
                <a:solidFill>
                  <a:srgbClr val="788CA0"/>
                </a:solidFill>
                <a:latin typeface="Arial"/>
              </a:defRPr>
            </a:pPr>
            <a:r>
              <a:t>AGROCONNECT  ·  MCA PROJECT REVIEW</a:t>
            </a:r>
          </a:p>
        </p:txBody>
      </p:sp>
      <p:sp>
        <p:nvSpPr>
          <p:cNvPr id="7" name="TextBox 6"/>
          <p:cNvSpPr txBox="1"/>
          <p:nvPr/>
        </p:nvSpPr>
        <p:spPr>
          <a:xfrm>
            <a:off x="7680960" y="4754880"/>
            <a:ext cx="914400" cy="274320"/>
          </a:xfrm>
          <a:prstGeom prst="rect">
            <a:avLst/>
          </a:prstGeom>
          <a:noFill/>
        </p:spPr>
        <p:txBody>
          <a:bodyPr wrap="none" lIns="0" rIns="0" tIns="0" bIns="0">
            <a:spAutoFit/>
          </a:bodyPr>
          <a:lstStyle/>
          <a:p>
            <a:pPr algn="r">
              <a:defRPr sz="900" b="1">
                <a:solidFill>
                  <a:srgbClr val="788CA0"/>
                </a:solidFill>
                <a:latin typeface="Arial"/>
              </a:defRPr>
            </a:pPr>
            <a:r>
              <a:t>9</a:t>
            </a:r>
          </a:p>
        </p:txBody>
      </p:sp>
      <p:sp>
        <p:nvSpPr>
          <p:cNvPr id="8" name="TextBox 7"/>
          <p:cNvSpPr txBox="1"/>
          <p:nvPr/>
        </p:nvSpPr>
        <p:spPr>
          <a:xfrm>
            <a:off x="548640" y="1188720"/>
            <a:ext cx="4206240" cy="3291840"/>
          </a:xfrm>
          <a:prstGeom prst="rect">
            <a:avLst/>
          </a:prstGeom>
          <a:noFill/>
        </p:spPr>
        <p:txBody>
          <a:bodyPr wrap="square" lIns="0" rIns="0" tIns="0" bIns="0">
            <a:spAutoFit/>
          </a:bodyPr>
          <a:lstStyle/>
          <a:p>
            <a:pPr>
              <a:defRPr sz="1200" b="1">
                <a:solidFill>
                  <a:srgbClr val="38A3E8"/>
                </a:solidFill>
                <a:latin typeface="Arial"/>
              </a:defRPr>
            </a:pPr>
            <a:r>
              <a:t>Instant First-Line Agricultural Support</a:t>
            </a:r>
          </a:p>
          <a:p>
            <a:pPr>
              <a:spcBef>
                <a:spcPts val="300"/>
              </a:spcBef>
              <a:defRPr sz="950">
                <a:solidFill>
                  <a:srgbClr val="B7C4D0"/>
                </a:solidFill>
                <a:latin typeface="Arial"/>
              </a:defRPr>
            </a:pPr>
            <a:r>
              <a:t>Accessible 24/7 directly from the app header. Answers crop troubleshooting questions in real time without human wait delays.</a:t>
            </a:r>
          </a:p>
          <a:p>
            <a:pPr>
              <a:spcBef>
                <a:spcPts val="1100"/>
              </a:spcBef>
              <a:defRPr sz="1200" b="1">
                <a:solidFill>
                  <a:srgbClr val="38A3E8"/>
                </a:solidFill>
                <a:latin typeface="Arial"/>
              </a:defRPr>
            </a:pPr>
            <a:r>
              <a:t>Structured Domain Knowledge</a:t>
            </a:r>
          </a:p>
          <a:p>
            <a:pPr>
              <a:spcBef>
                <a:spcPts val="300"/>
              </a:spcBef>
              <a:defRPr sz="950">
                <a:solidFill>
                  <a:srgbClr val="B7C4D0"/>
                </a:solidFill>
                <a:latin typeface="Arial"/>
              </a:defRPr>
            </a:pPr>
            <a:r>
              <a:t>Built on curated agronomic rules covering organic compost, biological pest control, soil fertility, and crop rotation cycles.</a:t>
            </a:r>
          </a:p>
          <a:p>
            <a:pPr>
              <a:spcBef>
                <a:spcPts val="1100"/>
              </a:spcBef>
              <a:defRPr sz="1200" b="1">
                <a:solidFill>
                  <a:srgbClr val="38A3E8"/>
                </a:solidFill>
                <a:latin typeface="Arial"/>
              </a:defRPr>
            </a:pPr>
            <a:r>
              <a:t>One-Tap Prompt Suggestions</a:t>
            </a:r>
          </a:p>
          <a:p>
            <a:pPr>
              <a:spcBef>
                <a:spcPts val="300"/>
              </a:spcBef>
              <a:defRPr sz="950">
                <a:solidFill>
                  <a:srgbClr val="B7C4D0"/>
                </a:solidFill>
                <a:latin typeface="Arial"/>
              </a:defRPr>
            </a:pPr>
            <a:r>
              <a:t>Offers quick-start prompt chips for common regional queries such as 'Identify Tomato Early Blight' or 'How to make Vermicompost'.</a:t>
            </a:r>
          </a:p>
          <a:p>
            <a:pPr>
              <a:spcBef>
                <a:spcPts val="1100"/>
              </a:spcBef>
              <a:defRPr sz="1200" b="1">
                <a:solidFill>
                  <a:srgbClr val="38A3E8"/>
                </a:solidFill>
                <a:latin typeface="Arial"/>
              </a:defRPr>
            </a:pPr>
            <a:r>
              <a:t>Markdown Formatting</a:t>
            </a:r>
          </a:p>
          <a:p>
            <a:pPr>
              <a:spcBef>
                <a:spcPts val="300"/>
              </a:spcBef>
              <a:defRPr sz="950">
                <a:solidFill>
                  <a:srgbClr val="B7C4D0"/>
                </a:solidFill>
                <a:latin typeface="Arial"/>
              </a:defRPr>
            </a:pPr>
            <a:r>
              <a:t>Renders structured agronomic recommendations with bullet points, bold pathogen names, and clear step-by-step instructions.</a:t>
            </a:r>
          </a:p>
        </p:txBody>
      </p:sp>
      <p:sp>
        <p:nvSpPr>
          <p:cNvPr id="9" name="Rounded Rectangle 8"/>
          <p:cNvSpPr/>
          <p:nvPr/>
        </p:nvSpPr>
        <p:spPr>
          <a:xfrm>
            <a:off x="5029200" y="1188720"/>
            <a:ext cx="3566160" cy="3291840"/>
          </a:xfrm>
          <a:prstGeom prst="roundRect">
            <a:avLst/>
          </a:prstGeom>
          <a:solidFill>
            <a:srgbClr val="121A24"/>
          </a:solidFill>
          <a:ln w="12700">
            <a:solidFill>
              <a:srgbClr val="2A3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12080" y="1325880"/>
            <a:ext cx="3200400" cy="3017520"/>
          </a:xfrm>
          <a:prstGeom prst="rect">
            <a:avLst/>
          </a:prstGeom>
          <a:noFill/>
        </p:spPr>
        <p:txBody>
          <a:bodyPr wrap="square" lIns="0" rIns="0" tIns="0" bIns="0">
            <a:spAutoFit/>
          </a:bodyPr>
          <a:lstStyle/>
          <a:p>
            <a:pPr>
              <a:defRPr sz="1200" b="1">
                <a:solidFill>
                  <a:srgbClr val="2ECC71"/>
                </a:solidFill>
                <a:latin typeface="Arial"/>
              </a:defRPr>
            </a:pPr>
            <a:r>
              <a:t>🌱 PEA Assistant Chat Preview</a:t>
            </a:r>
          </a:p>
          <a:p>
            <a:pPr>
              <a:spcBef>
                <a:spcPts val="600"/>
              </a:spcBef>
              <a:defRPr sz="950" b="1">
                <a:solidFill>
                  <a:srgbClr val="2ECC71"/>
                </a:solidFill>
                <a:latin typeface="Arial"/>
              </a:defRPr>
            </a:pPr>
            <a:r>
              <a:t>PEA Assistant:</a:t>
            </a:r>
          </a:p>
          <a:p>
            <a:pPr>
              <a:spcBef>
                <a:spcPts val="100"/>
              </a:spcBef>
              <a:defRPr sz="850">
                <a:solidFill>
                  <a:srgbClr val="F2F5F7"/>
                </a:solidFill>
                <a:latin typeface="Arial"/>
              </a:defRPr>
            </a:pPr>
            <a:r>
              <a:t>Hello! I am PEA, your personal Agro Connect AI Assistant. What would you like to troubleshoot today?</a:t>
            </a:r>
          </a:p>
          <a:p>
            <a:pPr>
              <a:spcBef>
                <a:spcPts val="600"/>
              </a:spcBef>
              <a:defRPr sz="950" b="1">
                <a:solidFill>
                  <a:srgbClr val="38A3E8"/>
                </a:solidFill>
                <a:latin typeface="Arial"/>
              </a:defRPr>
            </a:pPr>
            <a:r>
              <a:t>Farmer:</a:t>
            </a:r>
          </a:p>
          <a:p>
            <a:pPr>
              <a:spcBef>
                <a:spcPts val="100"/>
              </a:spcBef>
              <a:defRPr sz="850">
                <a:solidFill>
                  <a:srgbClr val="F2F5F7"/>
                </a:solidFill>
                <a:latin typeface="Arial"/>
              </a:defRPr>
            </a:pPr>
            <a:r>
              <a:t>How do I make Vermicompost at home?</a:t>
            </a:r>
          </a:p>
          <a:p>
            <a:pPr>
              <a:spcBef>
                <a:spcPts val="600"/>
              </a:spcBef>
              <a:defRPr sz="950" b="1">
                <a:solidFill>
                  <a:srgbClr val="2ECC71"/>
                </a:solidFill>
                <a:latin typeface="Arial"/>
              </a:defRPr>
            </a:pPr>
            <a:r>
              <a:t>PEA Assistant:</a:t>
            </a:r>
          </a:p>
          <a:p>
            <a:pPr>
              <a:spcBef>
                <a:spcPts val="100"/>
              </a:spcBef>
              <a:defRPr sz="850">
                <a:solidFill>
                  <a:srgbClr val="F2F5F7"/>
                </a:solidFill>
                <a:latin typeface="Arial"/>
              </a:defRPr>
            </a:pPr>
            <a:r>
              <a:t>### Vermicomposting Setup 🪱</a:t>
            </a:r>
            <a:br/>
            <a:r>
              <a:t>1. Drill breathing holes in a 50L bin.</a:t>
            </a:r>
            <a:br/>
            <a:r>
              <a:t>2. Add wet cardboard/coco-coir bedding.</a:t>
            </a:r>
            <a:br/>
            <a:r>
              <a:t>3. Introduce Red Wiggler worms.</a:t>
            </a:r>
            <a:br/>
            <a:r>
              <a:t>4. Feed vegetable scraps (avoid citrus &amp; dairy).</a:t>
            </a:r>
            <a:br/>
            <a:r>
              <a:t>5. Harvest worm castings after 2-3 months.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B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046720" cy="228600"/>
          </a:xfrm>
          <a:prstGeom prst="rect">
            <a:avLst/>
          </a:prstGeom>
          <a:noFill/>
        </p:spPr>
        <p:txBody>
          <a:bodyPr wrap="square" lIns="0" rIns="0" tIns="0" bIns="0">
            <a:spAutoFit/>
          </a:bodyPr>
          <a:lstStyle/>
          <a:p>
            <a:pPr>
              <a:defRPr sz="950" b="1">
                <a:solidFill>
                  <a:srgbClr val="38A3E8"/>
                </a:solidFill>
                <a:latin typeface="Arial"/>
              </a:defRPr>
            </a:pPr>
            <a:r>
              <a:t>CROP HEALTH DIAGNOSTICS</a:t>
            </a:r>
          </a:p>
        </p:txBody>
      </p:sp>
      <p:sp>
        <p:nvSpPr>
          <p:cNvPr id="4" name="TextBox 3"/>
          <p:cNvSpPr txBox="1"/>
          <p:nvPr/>
        </p:nvSpPr>
        <p:spPr>
          <a:xfrm>
            <a:off x="548640" y="585216"/>
            <a:ext cx="8046720" cy="502920"/>
          </a:xfrm>
          <a:prstGeom prst="rect">
            <a:avLst/>
          </a:prstGeom>
          <a:noFill/>
        </p:spPr>
        <p:txBody>
          <a:bodyPr wrap="square" lIns="0" rIns="0" tIns="0" bIns="0">
            <a:spAutoFit/>
          </a:bodyPr>
          <a:lstStyle/>
          <a:p>
            <a:pPr>
              <a:defRPr sz="2200" b="1">
                <a:solidFill>
                  <a:srgbClr val="F2F5F7"/>
                </a:solidFill>
                <a:latin typeface="Arial"/>
              </a:defRPr>
            </a:pPr>
            <a:r>
              <a:t>Plant Pathology &amp; Disease Triage Workflow</a:t>
            </a:r>
          </a:p>
        </p:txBody>
      </p:sp>
      <p:sp>
        <p:nvSpPr>
          <p:cNvPr id="5" name="Rectangle 4"/>
          <p:cNvSpPr/>
          <p:nvPr/>
        </p:nvSpPr>
        <p:spPr>
          <a:xfrm>
            <a:off x="548640" y="4709160"/>
            <a:ext cx="8046720" cy="13716"/>
          </a:xfrm>
          <a:prstGeom prst="rect">
            <a:avLst/>
          </a:prstGeom>
          <a:solidFill>
            <a:srgbClr val="2A3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4754880"/>
            <a:ext cx="6858000" cy="274320"/>
          </a:xfrm>
          <a:prstGeom prst="rect">
            <a:avLst/>
          </a:prstGeom>
          <a:noFill/>
        </p:spPr>
        <p:txBody>
          <a:bodyPr wrap="none" lIns="0" rIns="0" tIns="0" bIns="0">
            <a:spAutoFit/>
          </a:bodyPr>
          <a:lstStyle/>
          <a:p>
            <a:pPr>
              <a:defRPr sz="850">
                <a:solidFill>
                  <a:srgbClr val="788CA0"/>
                </a:solidFill>
                <a:latin typeface="Arial"/>
              </a:defRPr>
            </a:pPr>
            <a:r>
              <a:t>AGROCONNECT  ·  MCA PROJECT REVIEW</a:t>
            </a:r>
          </a:p>
        </p:txBody>
      </p:sp>
      <p:sp>
        <p:nvSpPr>
          <p:cNvPr id="7" name="TextBox 6"/>
          <p:cNvSpPr txBox="1"/>
          <p:nvPr/>
        </p:nvSpPr>
        <p:spPr>
          <a:xfrm>
            <a:off x="7680960" y="4754880"/>
            <a:ext cx="914400" cy="274320"/>
          </a:xfrm>
          <a:prstGeom prst="rect">
            <a:avLst/>
          </a:prstGeom>
          <a:noFill/>
        </p:spPr>
        <p:txBody>
          <a:bodyPr wrap="none" lIns="0" rIns="0" tIns="0" bIns="0">
            <a:spAutoFit/>
          </a:bodyPr>
          <a:lstStyle/>
          <a:p>
            <a:pPr algn="r">
              <a:defRPr sz="900" b="1">
                <a:solidFill>
                  <a:srgbClr val="788CA0"/>
                </a:solidFill>
                <a:latin typeface="Arial"/>
              </a:defRPr>
            </a:pPr>
            <a:r>
              <a:t>10</a:t>
            </a:r>
          </a:p>
        </p:txBody>
      </p:sp>
      <p:sp>
        <p:nvSpPr>
          <p:cNvPr id="8" name="Rounded Rectangle 7"/>
          <p:cNvSpPr/>
          <p:nvPr/>
        </p:nvSpPr>
        <p:spPr>
          <a:xfrm>
            <a:off x="548640" y="1188720"/>
            <a:ext cx="1874519" cy="1463040"/>
          </a:xfrm>
          <a:prstGeom prst="roundRect">
            <a:avLst/>
          </a:prstGeom>
          <a:solidFill>
            <a:srgbClr val="151F2B"/>
          </a:solidFill>
          <a:ln w="12700">
            <a:solidFill>
              <a:srgbClr val="38A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280160"/>
            <a:ext cx="1655063" cy="1280160"/>
          </a:xfrm>
          <a:prstGeom prst="rect">
            <a:avLst/>
          </a:prstGeom>
          <a:noFill/>
        </p:spPr>
        <p:txBody>
          <a:bodyPr wrap="square" lIns="0" rIns="0" tIns="0" bIns="0">
            <a:spAutoFit/>
          </a:bodyPr>
          <a:lstStyle/>
          <a:p>
            <a:pPr>
              <a:defRPr sz="1100" b="1">
                <a:solidFill>
                  <a:srgbClr val="38A3E8"/>
                </a:solidFill>
                <a:latin typeface="Arial"/>
              </a:defRPr>
            </a:pPr>
            <a:r>
              <a:t>1. Field Symptom</a:t>
            </a:r>
          </a:p>
          <a:p>
            <a:pPr>
              <a:spcBef>
                <a:spcPts val="400"/>
              </a:spcBef>
              <a:defRPr sz="850">
                <a:solidFill>
                  <a:srgbClr val="B7C4D0"/>
                </a:solidFill>
                <a:latin typeface="Arial"/>
              </a:defRPr>
            </a:pPr>
            <a:r>
              <a:t>Farmer observes target spot lesions or leaf yellowing on crop foliage.</a:t>
            </a:r>
          </a:p>
        </p:txBody>
      </p:sp>
      <p:sp>
        <p:nvSpPr>
          <p:cNvPr id="10" name="Rounded Rectangle 9"/>
          <p:cNvSpPr/>
          <p:nvPr/>
        </p:nvSpPr>
        <p:spPr>
          <a:xfrm>
            <a:off x="2606040" y="1188720"/>
            <a:ext cx="1874519" cy="1463040"/>
          </a:xfrm>
          <a:prstGeom prst="roundRect">
            <a:avLst/>
          </a:prstGeom>
          <a:solidFill>
            <a:srgbClr val="151F2B"/>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15768" y="1280160"/>
            <a:ext cx="1655063" cy="1280160"/>
          </a:xfrm>
          <a:prstGeom prst="rect">
            <a:avLst/>
          </a:prstGeom>
          <a:noFill/>
        </p:spPr>
        <p:txBody>
          <a:bodyPr wrap="square" lIns="0" rIns="0" tIns="0" bIns="0">
            <a:spAutoFit/>
          </a:bodyPr>
          <a:lstStyle/>
          <a:p>
            <a:pPr>
              <a:defRPr sz="1100" b="1">
                <a:solidFill>
                  <a:srgbClr val="2ECC71"/>
                </a:solidFill>
                <a:latin typeface="Arial"/>
              </a:defRPr>
            </a:pPr>
            <a:r>
              <a:t>2. AI Pathology Triage</a:t>
            </a:r>
          </a:p>
          <a:p>
            <a:pPr>
              <a:spcBef>
                <a:spcPts val="400"/>
              </a:spcBef>
              <a:defRPr sz="850">
                <a:solidFill>
                  <a:srgbClr val="B7C4D0"/>
                </a:solidFill>
                <a:latin typeface="Arial"/>
              </a:defRPr>
            </a:pPr>
            <a:r>
              <a:t>PEA matches symptom patterns to known fungal pathogens (e.g. Alternaria solani).</a:t>
            </a:r>
          </a:p>
        </p:txBody>
      </p:sp>
      <p:sp>
        <p:nvSpPr>
          <p:cNvPr id="12" name="Rounded Rectangle 11"/>
          <p:cNvSpPr/>
          <p:nvPr/>
        </p:nvSpPr>
        <p:spPr>
          <a:xfrm>
            <a:off x="4663440" y="1188720"/>
            <a:ext cx="1874519" cy="1463040"/>
          </a:xfrm>
          <a:prstGeom prst="roundRect">
            <a:avLst/>
          </a:prstGeom>
          <a:solidFill>
            <a:srgbClr val="151F2B"/>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73168" y="1280160"/>
            <a:ext cx="1655063" cy="1280160"/>
          </a:xfrm>
          <a:prstGeom prst="rect">
            <a:avLst/>
          </a:prstGeom>
          <a:noFill/>
        </p:spPr>
        <p:txBody>
          <a:bodyPr wrap="square" lIns="0" rIns="0" tIns="0" bIns="0">
            <a:spAutoFit/>
          </a:bodyPr>
          <a:lstStyle/>
          <a:p>
            <a:pPr>
              <a:defRPr sz="1100" b="1">
                <a:solidFill>
                  <a:srgbClr val="F5A623"/>
                </a:solidFill>
                <a:latin typeface="Arial"/>
              </a:defRPr>
            </a:pPr>
            <a:r>
              <a:t>3. Organic Treatment</a:t>
            </a:r>
          </a:p>
          <a:p>
            <a:pPr>
              <a:spcBef>
                <a:spcPts val="400"/>
              </a:spcBef>
              <a:defRPr sz="850">
                <a:solidFill>
                  <a:srgbClr val="B7C4D0"/>
                </a:solidFill>
                <a:latin typeface="Arial"/>
              </a:defRPr>
            </a:pPr>
            <a:r>
              <a:t>Prescribes biological controls (copper fungicides, Bacillus subtilis, mulch).</a:t>
            </a:r>
          </a:p>
        </p:txBody>
      </p:sp>
      <p:sp>
        <p:nvSpPr>
          <p:cNvPr id="14" name="Rounded Rectangle 13"/>
          <p:cNvSpPr/>
          <p:nvPr/>
        </p:nvSpPr>
        <p:spPr>
          <a:xfrm>
            <a:off x="6720840" y="1188720"/>
            <a:ext cx="1874519" cy="1463040"/>
          </a:xfrm>
          <a:prstGeom prst="roundRect">
            <a:avLst/>
          </a:prstGeom>
          <a:solidFill>
            <a:srgbClr val="151F2B"/>
          </a:solidFill>
          <a:ln w="12700">
            <a:solidFill>
              <a:srgbClr val="38A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30568" y="1280160"/>
            <a:ext cx="1655063" cy="1280160"/>
          </a:xfrm>
          <a:prstGeom prst="rect">
            <a:avLst/>
          </a:prstGeom>
          <a:noFill/>
        </p:spPr>
        <p:txBody>
          <a:bodyPr wrap="square" lIns="0" rIns="0" tIns="0" bIns="0">
            <a:spAutoFit/>
          </a:bodyPr>
          <a:lstStyle/>
          <a:p>
            <a:pPr>
              <a:defRPr sz="1100" b="1">
                <a:solidFill>
                  <a:srgbClr val="38A3E8"/>
                </a:solidFill>
                <a:latin typeface="Arial"/>
              </a:defRPr>
            </a:pPr>
            <a:r>
              <a:t>4. Expert Verification</a:t>
            </a:r>
          </a:p>
          <a:p>
            <a:pPr>
              <a:spcBef>
                <a:spcPts val="400"/>
              </a:spcBef>
              <a:defRPr sz="850">
                <a:solidFill>
                  <a:srgbClr val="B7C4D0"/>
                </a:solidFill>
                <a:latin typeface="Arial"/>
              </a:defRPr>
            </a:pPr>
            <a:r>
              <a:t>Farmer books a tele-consultation with a plant pathologist if damage persists.</a:t>
            </a:r>
          </a:p>
        </p:txBody>
      </p:sp>
      <p:sp>
        <p:nvSpPr>
          <p:cNvPr id="16" name="Rounded Rectangle 15"/>
          <p:cNvSpPr/>
          <p:nvPr/>
        </p:nvSpPr>
        <p:spPr>
          <a:xfrm>
            <a:off x="548640" y="2834640"/>
            <a:ext cx="8046720" cy="1645920"/>
          </a:xfrm>
          <a:prstGeom prst="roundRect">
            <a:avLst/>
          </a:prstGeom>
          <a:solidFill>
            <a:srgbClr val="101822"/>
          </a:solidFill>
          <a:ln w="12700">
            <a:solidFill>
              <a:srgbClr val="2A3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2926080"/>
            <a:ext cx="7680960" cy="1463040"/>
          </a:xfrm>
          <a:prstGeom prst="rect">
            <a:avLst/>
          </a:prstGeom>
          <a:noFill/>
        </p:spPr>
        <p:txBody>
          <a:bodyPr wrap="square" lIns="0" rIns="0" tIns="0" bIns="0">
            <a:spAutoFit/>
          </a:bodyPr>
          <a:lstStyle/>
          <a:p>
            <a:pPr>
              <a:defRPr sz="1200" b="1">
                <a:solidFill>
                  <a:srgbClr val="2ECC71"/>
                </a:solidFill>
                <a:latin typeface="Arial"/>
              </a:defRPr>
            </a:pPr>
            <a:r>
              <a:t>CASE STUDY: Tomato Early Blight (Alternaria solani) Diagnostic Response</a:t>
            </a:r>
          </a:p>
          <a:p>
            <a:pPr>
              <a:spcBef>
                <a:spcPts val="300"/>
              </a:spcBef>
              <a:defRPr sz="950">
                <a:solidFill>
                  <a:srgbClr val="F2F5F7"/>
                </a:solidFill>
                <a:latin typeface="Arial"/>
              </a:defRPr>
            </a:pPr>
            <a:r>
              <a:t>• Symptoms Identified: Dark concentric rings on older lower leaves, surrounding yellow halo, progressive defoliation.</a:t>
            </a:r>
          </a:p>
          <a:p>
            <a:pPr>
              <a:spcBef>
                <a:spcPts val="300"/>
              </a:spcBef>
              <a:defRPr sz="950">
                <a:solidFill>
                  <a:srgbClr val="F2F5F7"/>
                </a:solidFill>
                <a:latin typeface="Arial"/>
              </a:defRPr>
            </a:pPr>
            <a:r>
              <a:t>• Organic Remediation: Morning spray of bio-fungicides (Bacillus subtilis), lower foliage pruning, organic straw mulching.</a:t>
            </a:r>
          </a:p>
          <a:p>
            <a:pPr>
              <a:spcBef>
                <a:spcPts val="300"/>
              </a:spcBef>
              <a:defRPr sz="950">
                <a:solidFill>
                  <a:srgbClr val="F2F5F7"/>
                </a:solidFill>
                <a:latin typeface="Arial"/>
              </a:defRPr>
            </a:pPr>
            <a:r>
              <a:t>• Cultural Prevention: Implement strict 3-year crop rotation avoiding Solanaceae family plants (potatoes, eggplants).</a:t>
            </a:r>
          </a:p>
          <a:p>
            <a:pPr>
              <a:spcBef>
                <a:spcPts val="300"/>
              </a:spcBef>
              <a:defRPr sz="950">
                <a:solidFill>
                  <a:srgbClr val="F2F5F7"/>
                </a:solidFill>
                <a:latin typeface="Arial"/>
              </a:defRPr>
            </a:pPr>
            <a:r>
              <a:t>• Safety Protocol: The system explicitly instructs the farmer to escalate to verified agronomists for severe bacterial wilts.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B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046720" cy="228600"/>
          </a:xfrm>
          <a:prstGeom prst="rect">
            <a:avLst/>
          </a:prstGeom>
          <a:noFill/>
        </p:spPr>
        <p:txBody>
          <a:bodyPr wrap="square" lIns="0" rIns="0" tIns="0" bIns="0">
            <a:spAutoFit/>
          </a:bodyPr>
          <a:lstStyle/>
          <a:p>
            <a:pPr>
              <a:defRPr sz="950" b="1">
                <a:solidFill>
                  <a:srgbClr val="38A3E8"/>
                </a:solidFill>
                <a:latin typeface="Arial"/>
              </a:defRPr>
            </a:pPr>
            <a:r>
              <a:t>EXPERT CATCH UP</a:t>
            </a:r>
          </a:p>
        </p:txBody>
      </p:sp>
      <p:sp>
        <p:nvSpPr>
          <p:cNvPr id="4" name="TextBox 3"/>
          <p:cNvSpPr txBox="1"/>
          <p:nvPr/>
        </p:nvSpPr>
        <p:spPr>
          <a:xfrm>
            <a:off x="548640" y="585216"/>
            <a:ext cx="8046720" cy="502920"/>
          </a:xfrm>
          <a:prstGeom prst="rect">
            <a:avLst/>
          </a:prstGeom>
          <a:noFill/>
        </p:spPr>
        <p:txBody>
          <a:bodyPr wrap="square" lIns="0" rIns="0" tIns="0" bIns="0">
            <a:spAutoFit/>
          </a:bodyPr>
          <a:lstStyle/>
          <a:p>
            <a:pPr>
              <a:defRPr sz="2200" b="1">
                <a:solidFill>
                  <a:srgbClr val="F2F5F7"/>
                </a:solidFill>
                <a:latin typeface="Arial"/>
              </a:defRPr>
            </a:pPr>
            <a:r>
              <a:t>Agronomist Discovery &amp; Calendar Scheduling</a:t>
            </a:r>
          </a:p>
        </p:txBody>
      </p:sp>
      <p:sp>
        <p:nvSpPr>
          <p:cNvPr id="5" name="Rectangle 4"/>
          <p:cNvSpPr/>
          <p:nvPr/>
        </p:nvSpPr>
        <p:spPr>
          <a:xfrm>
            <a:off x="548640" y="4709160"/>
            <a:ext cx="8046720" cy="13716"/>
          </a:xfrm>
          <a:prstGeom prst="rect">
            <a:avLst/>
          </a:prstGeom>
          <a:solidFill>
            <a:srgbClr val="2A3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4754880"/>
            <a:ext cx="6858000" cy="274320"/>
          </a:xfrm>
          <a:prstGeom prst="rect">
            <a:avLst/>
          </a:prstGeom>
          <a:noFill/>
        </p:spPr>
        <p:txBody>
          <a:bodyPr wrap="none" lIns="0" rIns="0" tIns="0" bIns="0">
            <a:spAutoFit/>
          </a:bodyPr>
          <a:lstStyle/>
          <a:p>
            <a:pPr>
              <a:defRPr sz="850">
                <a:solidFill>
                  <a:srgbClr val="788CA0"/>
                </a:solidFill>
                <a:latin typeface="Arial"/>
              </a:defRPr>
            </a:pPr>
            <a:r>
              <a:t>AGROCONNECT  ·  MCA PROJECT REVIEW</a:t>
            </a:r>
          </a:p>
        </p:txBody>
      </p:sp>
      <p:sp>
        <p:nvSpPr>
          <p:cNvPr id="7" name="TextBox 6"/>
          <p:cNvSpPr txBox="1"/>
          <p:nvPr/>
        </p:nvSpPr>
        <p:spPr>
          <a:xfrm>
            <a:off x="7680960" y="4754880"/>
            <a:ext cx="914400" cy="274320"/>
          </a:xfrm>
          <a:prstGeom prst="rect">
            <a:avLst/>
          </a:prstGeom>
          <a:noFill/>
        </p:spPr>
        <p:txBody>
          <a:bodyPr wrap="none" lIns="0" rIns="0" tIns="0" bIns="0">
            <a:spAutoFit/>
          </a:bodyPr>
          <a:lstStyle/>
          <a:p>
            <a:pPr algn="r">
              <a:defRPr sz="900" b="1">
                <a:solidFill>
                  <a:srgbClr val="788CA0"/>
                </a:solidFill>
                <a:latin typeface="Arial"/>
              </a:defRPr>
            </a:pPr>
            <a:r>
              <a:t>11</a:t>
            </a:r>
          </a:p>
        </p:txBody>
      </p:sp>
      <p:sp>
        <p:nvSpPr>
          <p:cNvPr id="8" name="TextBox 7"/>
          <p:cNvSpPr txBox="1"/>
          <p:nvPr/>
        </p:nvSpPr>
        <p:spPr>
          <a:xfrm>
            <a:off x="548640" y="1188720"/>
            <a:ext cx="4389120" cy="3291840"/>
          </a:xfrm>
          <a:prstGeom prst="rect">
            <a:avLst/>
          </a:prstGeom>
          <a:noFill/>
        </p:spPr>
        <p:txBody>
          <a:bodyPr wrap="square" lIns="0" rIns="0" tIns="0" bIns="0">
            <a:spAutoFit/>
          </a:bodyPr>
          <a:lstStyle/>
          <a:p>
            <a:pPr>
              <a:defRPr sz="1200" b="1">
                <a:solidFill>
                  <a:srgbClr val="38A3E8"/>
                </a:solidFill>
                <a:latin typeface="Arial"/>
              </a:defRPr>
            </a:pPr>
            <a:r>
              <a:t>Verified Agronomist Profiles</a:t>
            </a:r>
          </a:p>
          <a:p>
            <a:pPr>
              <a:spcBef>
                <a:spcPts val="300"/>
              </a:spcBef>
              <a:defRPr sz="950">
                <a:solidFill>
                  <a:srgbClr val="B7C4D0"/>
                </a:solidFill>
                <a:latin typeface="Arial"/>
              </a:defRPr>
            </a:pPr>
            <a:r>
              <a:t>Farmers browse certified experts with ratings, specializations (soil fertility, plant pathology), and experience years.</a:t>
            </a:r>
          </a:p>
          <a:p>
            <a:pPr>
              <a:spcBef>
                <a:spcPts val="1100"/>
              </a:spcBef>
              <a:defRPr sz="1200" b="1">
                <a:solidFill>
                  <a:srgbClr val="38A3E8"/>
                </a:solidFill>
                <a:latin typeface="Arial"/>
              </a:defRPr>
            </a:pPr>
            <a:r>
              <a:t>Transparent Fee Schedules</a:t>
            </a:r>
          </a:p>
          <a:p>
            <a:pPr>
              <a:spcBef>
                <a:spcPts val="300"/>
              </a:spcBef>
              <a:defRPr sz="950">
                <a:solidFill>
                  <a:srgbClr val="B7C4D0"/>
                </a:solidFill>
                <a:latin typeface="Arial"/>
              </a:defRPr>
            </a:pPr>
            <a:r>
              <a:t>Each agronomist lists their exact consultation fee (e.g. ₹500.00). No hidden costs or unverified surcharges.</a:t>
            </a:r>
          </a:p>
          <a:p>
            <a:pPr>
              <a:spcBef>
                <a:spcPts val="1100"/>
              </a:spcBef>
              <a:defRPr sz="1200" b="1">
                <a:solidFill>
                  <a:srgbClr val="38A3E8"/>
                </a:solidFill>
                <a:latin typeface="Arial"/>
              </a:defRPr>
            </a:pPr>
            <a:r>
              <a:t>Dynamic Slot Reservation</a:t>
            </a:r>
          </a:p>
          <a:p>
            <a:pPr>
              <a:spcBef>
                <a:spcPts val="300"/>
              </a:spcBef>
              <a:defRPr sz="950">
                <a:solidFill>
                  <a:srgbClr val="B7C4D0"/>
                </a:solidFill>
                <a:latin typeface="Arial"/>
              </a:defRPr>
            </a:pPr>
            <a:r>
              <a:t>Experts configure available consultation dates and 30-minute time intervals. PostgreSQL database locks prevent double booking.</a:t>
            </a:r>
          </a:p>
          <a:p>
            <a:pPr>
              <a:spcBef>
                <a:spcPts val="1100"/>
              </a:spcBef>
              <a:defRPr sz="1200" b="1">
                <a:solidFill>
                  <a:srgbClr val="38A3E8"/>
                </a:solidFill>
                <a:latin typeface="Arial"/>
              </a:defRPr>
            </a:pPr>
            <a:r>
              <a:t>Issue Description Pre-Submission</a:t>
            </a:r>
          </a:p>
          <a:p>
            <a:pPr>
              <a:spcBef>
                <a:spcPts val="300"/>
              </a:spcBef>
              <a:defRPr sz="950">
                <a:solidFill>
                  <a:srgbClr val="B7C4D0"/>
                </a:solidFill>
                <a:latin typeface="Arial"/>
              </a:defRPr>
            </a:pPr>
            <a:r>
              <a:t>Farmers enter a summary of their crop issue prior to booking, allowing the agronomist to prepare before the consultation.</a:t>
            </a:r>
          </a:p>
        </p:txBody>
      </p:sp>
      <p:sp>
        <p:nvSpPr>
          <p:cNvPr id="9" name="Rounded Rectangle 8"/>
          <p:cNvSpPr/>
          <p:nvPr/>
        </p:nvSpPr>
        <p:spPr>
          <a:xfrm>
            <a:off x="5192904" y="1152144"/>
            <a:ext cx="1547110" cy="3364992"/>
          </a:xfrm>
          <a:prstGeom prst="roundRect">
            <a:avLst/>
          </a:prstGeom>
          <a:solidFill>
            <a:srgbClr val="101822"/>
          </a:solidFill>
          <a:ln w="12700">
            <a:solidFill>
              <a:srgbClr val="38A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book_expert_list.png"/>
          <p:cNvPicPr>
            <a:picLocks noChangeAspect="1"/>
          </p:cNvPicPr>
          <p:nvPr/>
        </p:nvPicPr>
        <p:blipFill>
          <a:blip r:embed="rId2"/>
          <a:stretch>
            <a:fillRect/>
          </a:stretch>
        </p:blipFill>
        <p:spPr>
          <a:xfrm>
            <a:off x="5229480" y="1188720"/>
            <a:ext cx="1473958" cy="3291840"/>
          </a:xfrm>
          <a:prstGeom prst="rect">
            <a:avLst/>
          </a:prstGeom>
        </p:spPr>
      </p:pic>
      <p:sp>
        <p:nvSpPr>
          <p:cNvPr id="11" name="TextBox 10"/>
          <p:cNvSpPr txBox="1"/>
          <p:nvPr/>
        </p:nvSpPr>
        <p:spPr>
          <a:xfrm>
            <a:off x="5120640" y="4535424"/>
            <a:ext cx="1691640" cy="320040"/>
          </a:xfrm>
          <a:prstGeom prst="rect">
            <a:avLst/>
          </a:prstGeom>
          <a:noFill/>
        </p:spPr>
        <p:txBody>
          <a:bodyPr wrap="square" lIns="0" rIns="0" tIns="0" bIns="0">
            <a:spAutoFit/>
          </a:bodyPr>
          <a:lstStyle/>
          <a:p>
            <a:pPr algn="ctr">
              <a:defRPr sz="850" i="1">
                <a:solidFill>
                  <a:srgbClr val="B7C4D0"/>
                </a:solidFill>
                <a:latin typeface="Arial"/>
              </a:defRPr>
            </a:pPr>
            <a:r>
              <a:t>Verified Experts List</a:t>
            </a:r>
          </a:p>
        </p:txBody>
      </p:sp>
      <p:sp>
        <p:nvSpPr>
          <p:cNvPr id="12" name="Rounded Rectangle 11"/>
          <p:cNvSpPr/>
          <p:nvPr/>
        </p:nvSpPr>
        <p:spPr>
          <a:xfrm>
            <a:off x="7021704" y="1152144"/>
            <a:ext cx="1547110" cy="3364992"/>
          </a:xfrm>
          <a:prstGeom prst="roundRect">
            <a:avLst/>
          </a:prstGeom>
          <a:solidFill>
            <a:srgbClr val="101822"/>
          </a:solidFill>
          <a:ln w="12700">
            <a:solidFill>
              <a:srgbClr val="38A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atchup_slots.png"/>
          <p:cNvPicPr>
            <a:picLocks noChangeAspect="1"/>
          </p:cNvPicPr>
          <p:nvPr/>
        </p:nvPicPr>
        <p:blipFill>
          <a:blip r:embed="rId3"/>
          <a:stretch>
            <a:fillRect/>
          </a:stretch>
        </p:blipFill>
        <p:spPr>
          <a:xfrm>
            <a:off x="7058280" y="1188720"/>
            <a:ext cx="1473958" cy="3291840"/>
          </a:xfrm>
          <a:prstGeom prst="rect">
            <a:avLst/>
          </a:prstGeom>
        </p:spPr>
      </p:pic>
      <p:sp>
        <p:nvSpPr>
          <p:cNvPr id="14" name="TextBox 13"/>
          <p:cNvSpPr txBox="1"/>
          <p:nvPr/>
        </p:nvSpPr>
        <p:spPr>
          <a:xfrm>
            <a:off x="6949440" y="4535424"/>
            <a:ext cx="1691640" cy="320040"/>
          </a:xfrm>
          <a:prstGeom prst="rect">
            <a:avLst/>
          </a:prstGeom>
          <a:noFill/>
        </p:spPr>
        <p:txBody>
          <a:bodyPr wrap="square" lIns="0" rIns="0" tIns="0" bIns="0">
            <a:spAutoFit/>
          </a:bodyPr>
          <a:lstStyle/>
          <a:p>
            <a:pPr algn="ctr">
              <a:defRPr sz="850" i="1">
                <a:solidFill>
                  <a:srgbClr val="B7C4D0"/>
                </a:solidFill>
                <a:latin typeface="Arial"/>
              </a:defRPr>
            </a:pPr>
            <a:r>
              <a:t>Available Slots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B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046720" cy="228600"/>
          </a:xfrm>
          <a:prstGeom prst="rect">
            <a:avLst/>
          </a:prstGeom>
          <a:noFill/>
        </p:spPr>
        <p:txBody>
          <a:bodyPr wrap="square" lIns="0" rIns="0" tIns="0" bIns="0">
            <a:spAutoFit/>
          </a:bodyPr>
          <a:lstStyle/>
          <a:p>
            <a:pPr>
              <a:defRPr sz="950" b="1">
                <a:solidFill>
                  <a:srgbClr val="38A3E8"/>
                </a:solidFill>
                <a:latin typeface="Arial"/>
              </a:defRPr>
            </a:pPr>
            <a:r>
              <a:t>BOOKING ECONOMICS</a:t>
            </a:r>
          </a:p>
        </p:txBody>
      </p:sp>
      <p:sp>
        <p:nvSpPr>
          <p:cNvPr id="4" name="TextBox 3"/>
          <p:cNvSpPr txBox="1"/>
          <p:nvPr/>
        </p:nvSpPr>
        <p:spPr>
          <a:xfrm>
            <a:off x="548640" y="585216"/>
            <a:ext cx="8046720" cy="502920"/>
          </a:xfrm>
          <a:prstGeom prst="rect">
            <a:avLst/>
          </a:prstGeom>
          <a:noFill/>
        </p:spPr>
        <p:txBody>
          <a:bodyPr wrap="square" lIns="0" rIns="0" tIns="0" bIns="0">
            <a:spAutoFit/>
          </a:bodyPr>
          <a:lstStyle/>
          <a:p>
            <a:pPr>
              <a:defRPr sz="2200" b="1">
                <a:solidFill>
                  <a:srgbClr val="F2F5F7"/>
                </a:solidFill>
                <a:latin typeface="Arial"/>
              </a:defRPr>
            </a:pPr>
            <a:r>
              <a:t>Demonstration Checkout &amp; Cancellation Policies</a:t>
            </a:r>
          </a:p>
        </p:txBody>
      </p:sp>
      <p:sp>
        <p:nvSpPr>
          <p:cNvPr id="5" name="Rectangle 4"/>
          <p:cNvSpPr/>
          <p:nvPr/>
        </p:nvSpPr>
        <p:spPr>
          <a:xfrm>
            <a:off x="548640" y="4709160"/>
            <a:ext cx="8046720" cy="13716"/>
          </a:xfrm>
          <a:prstGeom prst="rect">
            <a:avLst/>
          </a:prstGeom>
          <a:solidFill>
            <a:srgbClr val="2A3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4754880"/>
            <a:ext cx="6858000" cy="274320"/>
          </a:xfrm>
          <a:prstGeom prst="rect">
            <a:avLst/>
          </a:prstGeom>
          <a:noFill/>
        </p:spPr>
        <p:txBody>
          <a:bodyPr wrap="none" lIns="0" rIns="0" tIns="0" bIns="0">
            <a:spAutoFit/>
          </a:bodyPr>
          <a:lstStyle/>
          <a:p>
            <a:pPr>
              <a:defRPr sz="850">
                <a:solidFill>
                  <a:srgbClr val="788CA0"/>
                </a:solidFill>
                <a:latin typeface="Arial"/>
              </a:defRPr>
            </a:pPr>
            <a:r>
              <a:t>AGROCONNECT  ·  MCA PROJECT REVIEW</a:t>
            </a:r>
          </a:p>
        </p:txBody>
      </p:sp>
      <p:sp>
        <p:nvSpPr>
          <p:cNvPr id="7" name="TextBox 6"/>
          <p:cNvSpPr txBox="1"/>
          <p:nvPr/>
        </p:nvSpPr>
        <p:spPr>
          <a:xfrm>
            <a:off x="7680960" y="4754880"/>
            <a:ext cx="914400" cy="274320"/>
          </a:xfrm>
          <a:prstGeom prst="rect">
            <a:avLst/>
          </a:prstGeom>
          <a:noFill/>
        </p:spPr>
        <p:txBody>
          <a:bodyPr wrap="none" lIns="0" rIns="0" tIns="0" bIns="0">
            <a:spAutoFit/>
          </a:bodyPr>
          <a:lstStyle/>
          <a:p>
            <a:pPr algn="r">
              <a:defRPr sz="900" b="1">
                <a:solidFill>
                  <a:srgbClr val="788CA0"/>
                </a:solidFill>
                <a:latin typeface="Arial"/>
              </a:defRPr>
            </a:pPr>
            <a:r>
              <a:t>12</a:t>
            </a:r>
          </a:p>
        </p:txBody>
      </p:sp>
      <p:sp>
        <p:nvSpPr>
          <p:cNvPr id="8" name="TextBox 7"/>
          <p:cNvSpPr txBox="1"/>
          <p:nvPr/>
        </p:nvSpPr>
        <p:spPr>
          <a:xfrm>
            <a:off x="548640" y="1188720"/>
            <a:ext cx="4389120" cy="3291840"/>
          </a:xfrm>
          <a:prstGeom prst="rect">
            <a:avLst/>
          </a:prstGeom>
          <a:noFill/>
        </p:spPr>
        <p:txBody>
          <a:bodyPr wrap="square" lIns="0" rIns="0" tIns="0" bIns="0">
            <a:spAutoFit/>
          </a:bodyPr>
          <a:lstStyle/>
          <a:p>
            <a:pPr>
              <a:defRPr sz="1150" b="1">
                <a:solidFill>
                  <a:srgbClr val="2ECC71"/>
                </a:solidFill>
                <a:latin typeface="Arial"/>
              </a:defRPr>
            </a:pPr>
            <a:r>
              <a:t>Simulated Escrow Checkout</a:t>
            </a:r>
          </a:p>
          <a:p>
            <a:pPr>
              <a:spcBef>
                <a:spcPts val="300"/>
              </a:spcBef>
              <a:defRPr sz="950">
                <a:solidFill>
                  <a:srgbClr val="B7C4D0"/>
                </a:solidFill>
                <a:latin typeface="Arial"/>
              </a:defRPr>
            </a:pPr>
            <a:r>
              <a:t>A demonstration payment checkout simulates transaction workflows without exposing farmers to real financial risk during prototype testing.</a:t>
            </a:r>
          </a:p>
          <a:p>
            <a:pPr>
              <a:spcBef>
                <a:spcPts val="1100"/>
              </a:spcBef>
              <a:defRPr sz="1150" b="1">
                <a:solidFill>
                  <a:srgbClr val="2ECC71"/>
                </a:solidFill>
                <a:latin typeface="Arial"/>
              </a:defRPr>
            </a:pPr>
            <a:r>
              <a:t>The 14-Hour Cancellation Threshold</a:t>
            </a:r>
          </a:p>
          <a:p>
            <a:pPr>
              <a:spcBef>
                <a:spcPts val="300"/>
              </a:spcBef>
              <a:defRPr sz="950">
                <a:solidFill>
                  <a:srgbClr val="B7C4D0"/>
                </a:solidFill>
                <a:latin typeface="Arial"/>
              </a:defRPr>
            </a:pPr>
            <a:r>
              <a:t>Farmers cancelling ≥14 hours before slot start receive an automatic 100% full refund.</a:t>
            </a:r>
          </a:p>
          <a:p>
            <a:pPr>
              <a:spcBef>
                <a:spcPts val="1100"/>
              </a:spcBef>
              <a:defRPr sz="1150" b="1">
                <a:solidFill>
                  <a:srgbClr val="2ECC71"/>
                </a:solidFill>
                <a:latin typeface="Arial"/>
              </a:defRPr>
            </a:pPr>
            <a:r>
              <a:t>Fair Expert Compensation (&lt;14 Hours)</a:t>
            </a:r>
          </a:p>
          <a:p>
            <a:pPr>
              <a:spcBef>
                <a:spcPts val="300"/>
              </a:spcBef>
              <a:defRPr sz="950">
                <a:solidFill>
                  <a:srgbClr val="B7C4D0"/>
                </a:solidFill>
                <a:latin typeface="Arial"/>
              </a:defRPr>
            </a:pPr>
            <a:r>
              <a:t>Cancellations inside 14 hours allocate 50% to the expert for reserved time, 2% platform fee, and 48% refunded to the farmer.</a:t>
            </a:r>
          </a:p>
          <a:p>
            <a:pPr>
              <a:spcBef>
                <a:spcPts val="1100"/>
              </a:spcBef>
              <a:defRPr sz="1150" b="1">
                <a:solidFill>
                  <a:srgbClr val="2ECC71"/>
                </a:solidFill>
                <a:latin typeface="Arial"/>
              </a:defRPr>
            </a:pPr>
            <a:r>
              <a:t>Unconditional Expert / No-Show Refunds</a:t>
            </a:r>
          </a:p>
          <a:p>
            <a:pPr>
              <a:spcBef>
                <a:spcPts val="300"/>
              </a:spcBef>
              <a:defRPr sz="950">
                <a:solidFill>
                  <a:srgbClr val="B7C4D0"/>
                </a:solidFill>
                <a:latin typeface="Arial"/>
              </a:defRPr>
            </a:pPr>
            <a:r>
              <a:t>If an expert cancels at any time or fails to provide a meeting link within 5 minutes of start, the farmer receives an immediate 100% refund.</a:t>
            </a:r>
          </a:p>
        </p:txBody>
      </p:sp>
      <p:sp>
        <p:nvSpPr>
          <p:cNvPr id="9" name="Rounded Rectangle 8"/>
          <p:cNvSpPr/>
          <p:nvPr/>
        </p:nvSpPr>
        <p:spPr>
          <a:xfrm>
            <a:off x="5192904" y="1152144"/>
            <a:ext cx="1547110" cy="3364992"/>
          </a:xfrm>
          <a:prstGeom prst="roundRect">
            <a:avLst/>
          </a:prstGeom>
          <a:solidFill>
            <a:srgbClr val="101822"/>
          </a:solidFill>
          <a:ln w="12700">
            <a:solidFill>
              <a:srgbClr val="38A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payment_processing.png"/>
          <p:cNvPicPr>
            <a:picLocks noChangeAspect="1"/>
          </p:cNvPicPr>
          <p:nvPr/>
        </p:nvPicPr>
        <p:blipFill>
          <a:blip r:embed="rId2"/>
          <a:stretch>
            <a:fillRect/>
          </a:stretch>
        </p:blipFill>
        <p:spPr>
          <a:xfrm>
            <a:off x="5229480" y="1188720"/>
            <a:ext cx="1473958" cy="3291840"/>
          </a:xfrm>
          <a:prstGeom prst="rect">
            <a:avLst/>
          </a:prstGeom>
        </p:spPr>
      </p:pic>
      <p:sp>
        <p:nvSpPr>
          <p:cNvPr id="11" name="TextBox 10"/>
          <p:cNvSpPr txBox="1"/>
          <p:nvPr/>
        </p:nvSpPr>
        <p:spPr>
          <a:xfrm>
            <a:off x="5120640" y="4535424"/>
            <a:ext cx="1691640" cy="320040"/>
          </a:xfrm>
          <a:prstGeom prst="rect">
            <a:avLst/>
          </a:prstGeom>
          <a:noFill/>
        </p:spPr>
        <p:txBody>
          <a:bodyPr wrap="square" lIns="0" rIns="0" tIns="0" bIns="0">
            <a:spAutoFit/>
          </a:bodyPr>
          <a:lstStyle/>
          <a:p>
            <a:pPr algn="ctr">
              <a:defRPr sz="850" i="1">
                <a:solidFill>
                  <a:srgbClr val="B7C4D0"/>
                </a:solidFill>
                <a:latin typeface="Arial"/>
              </a:defRPr>
            </a:pPr>
            <a:r>
              <a:t>Demo Payment Simulation</a:t>
            </a:r>
          </a:p>
        </p:txBody>
      </p:sp>
      <p:sp>
        <p:nvSpPr>
          <p:cNvPr id="12" name="Rounded Rectangle 11"/>
          <p:cNvSpPr/>
          <p:nvPr/>
        </p:nvSpPr>
        <p:spPr>
          <a:xfrm>
            <a:off x="7021704" y="1152144"/>
            <a:ext cx="1547110" cy="3364992"/>
          </a:xfrm>
          <a:prstGeom prst="roundRect">
            <a:avLst/>
          </a:prstGeom>
          <a:solidFill>
            <a:srgbClr val="101822"/>
          </a:solidFill>
          <a:ln w="12700">
            <a:solidFill>
              <a:srgbClr val="38A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ancel_terms.png"/>
          <p:cNvPicPr>
            <a:picLocks noChangeAspect="1"/>
          </p:cNvPicPr>
          <p:nvPr/>
        </p:nvPicPr>
        <p:blipFill>
          <a:blip r:embed="rId3"/>
          <a:stretch>
            <a:fillRect/>
          </a:stretch>
        </p:blipFill>
        <p:spPr>
          <a:xfrm>
            <a:off x="7058280" y="1188720"/>
            <a:ext cx="1473958" cy="3291840"/>
          </a:xfrm>
          <a:prstGeom prst="rect">
            <a:avLst/>
          </a:prstGeom>
        </p:spPr>
      </p:pic>
      <p:sp>
        <p:nvSpPr>
          <p:cNvPr id="14" name="TextBox 13"/>
          <p:cNvSpPr txBox="1"/>
          <p:nvPr/>
        </p:nvSpPr>
        <p:spPr>
          <a:xfrm>
            <a:off x="6949440" y="4535424"/>
            <a:ext cx="1691640" cy="320040"/>
          </a:xfrm>
          <a:prstGeom prst="rect">
            <a:avLst/>
          </a:prstGeom>
          <a:noFill/>
        </p:spPr>
        <p:txBody>
          <a:bodyPr wrap="square" lIns="0" rIns="0" tIns="0" bIns="0">
            <a:spAutoFit/>
          </a:bodyPr>
          <a:lstStyle/>
          <a:p>
            <a:pPr algn="ctr">
              <a:defRPr sz="850" i="1">
                <a:solidFill>
                  <a:srgbClr val="B7C4D0"/>
                </a:solidFill>
                <a:latin typeface="Arial"/>
              </a:defRPr>
            </a:pPr>
            <a:r>
              <a:t>Server Refund Terms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B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046720" cy="228600"/>
          </a:xfrm>
          <a:prstGeom prst="rect">
            <a:avLst/>
          </a:prstGeom>
          <a:noFill/>
        </p:spPr>
        <p:txBody>
          <a:bodyPr wrap="square" lIns="0" rIns="0" tIns="0" bIns="0">
            <a:spAutoFit/>
          </a:bodyPr>
          <a:lstStyle/>
          <a:p>
            <a:pPr>
              <a:defRPr sz="950" b="1">
                <a:solidFill>
                  <a:srgbClr val="38A3E8"/>
                </a:solidFill>
                <a:latin typeface="Arial"/>
              </a:defRPr>
            </a:pPr>
            <a:r>
              <a:t>VIDEO CONSULTATION</a:t>
            </a:r>
          </a:p>
        </p:txBody>
      </p:sp>
      <p:sp>
        <p:nvSpPr>
          <p:cNvPr id="4" name="TextBox 3"/>
          <p:cNvSpPr txBox="1"/>
          <p:nvPr/>
        </p:nvSpPr>
        <p:spPr>
          <a:xfrm>
            <a:off x="548640" y="585216"/>
            <a:ext cx="8046720" cy="502920"/>
          </a:xfrm>
          <a:prstGeom prst="rect">
            <a:avLst/>
          </a:prstGeom>
          <a:noFill/>
        </p:spPr>
        <p:txBody>
          <a:bodyPr wrap="square" lIns="0" rIns="0" tIns="0" bIns="0">
            <a:spAutoFit/>
          </a:bodyPr>
          <a:lstStyle/>
          <a:p>
            <a:pPr>
              <a:defRPr sz="2200" b="1">
                <a:solidFill>
                  <a:srgbClr val="F2F5F7"/>
                </a:solidFill>
                <a:latin typeface="Arial"/>
              </a:defRPr>
            </a:pPr>
            <a:r>
              <a:t>Real-Time Tele-Consultations via Google Meet</a:t>
            </a:r>
          </a:p>
        </p:txBody>
      </p:sp>
      <p:sp>
        <p:nvSpPr>
          <p:cNvPr id="5" name="Rectangle 4"/>
          <p:cNvSpPr/>
          <p:nvPr/>
        </p:nvSpPr>
        <p:spPr>
          <a:xfrm>
            <a:off x="548640" y="4709160"/>
            <a:ext cx="8046720" cy="13716"/>
          </a:xfrm>
          <a:prstGeom prst="rect">
            <a:avLst/>
          </a:prstGeom>
          <a:solidFill>
            <a:srgbClr val="2A3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4754880"/>
            <a:ext cx="6858000" cy="274320"/>
          </a:xfrm>
          <a:prstGeom prst="rect">
            <a:avLst/>
          </a:prstGeom>
          <a:noFill/>
        </p:spPr>
        <p:txBody>
          <a:bodyPr wrap="none" lIns="0" rIns="0" tIns="0" bIns="0">
            <a:spAutoFit/>
          </a:bodyPr>
          <a:lstStyle/>
          <a:p>
            <a:pPr>
              <a:defRPr sz="850">
                <a:solidFill>
                  <a:srgbClr val="788CA0"/>
                </a:solidFill>
                <a:latin typeface="Arial"/>
              </a:defRPr>
            </a:pPr>
            <a:r>
              <a:t>AGROCONNECT  ·  MCA PROJECT REVIEW</a:t>
            </a:r>
          </a:p>
        </p:txBody>
      </p:sp>
      <p:sp>
        <p:nvSpPr>
          <p:cNvPr id="7" name="TextBox 6"/>
          <p:cNvSpPr txBox="1"/>
          <p:nvPr/>
        </p:nvSpPr>
        <p:spPr>
          <a:xfrm>
            <a:off x="7680960" y="4754880"/>
            <a:ext cx="914400" cy="274320"/>
          </a:xfrm>
          <a:prstGeom prst="rect">
            <a:avLst/>
          </a:prstGeom>
          <a:noFill/>
        </p:spPr>
        <p:txBody>
          <a:bodyPr wrap="none" lIns="0" rIns="0" tIns="0" bIns="0">
            <a:spAutoFit/>
          </a:bodyPr>
          <a:lstStyle/>
          <a:p>
            <a:pPr algn="r">
              <a:defRPr sz="900" b="1">
                <a:solidFill>
                  <a:srgbClr val="788CA0"/>
                </a:solidFill>
                <a:latin typeface="Arial"/>
              </a:defRPr>
            </a:pPr>
            <a:r>
              <a:t>13</a:t>
            </a:r>
          </a:p>
        </p:txBody>
      </p:sp>
      <p:sp>
        <p:nvSpPr>
          <p:cNvPr id="8" name="TextBox 7"/>
          <p:cNvSpPr txBox="1"/>
          <p:nvPr/>
        </p:nvSpPr>
        <p:spPr>
          <a:xfrm>
            <a:off x="548640" y="1188720"/>
            <a:ext cx="4389120" cy="3291840"/>
          </a:xfrm>
          <a:prstGeom prst="rect">
            <a:avLst/>
          </a:prstGeom>
          <a:noFill/>
        </p:spPr>
        <p:txBody>
          <a:bodyPr wrap="square" lIns="0" rIns="0" tIns="0" bIns="0">
            <a:spAutoFit/>
          </a:bodyPr>
          <a:lstStyle/>
          <a:p>
            <a:pPr>
              <a:defRPr sz="1200" b="1">
                <a:solidFill>
                  <a:srgbClr val="38A3E8"/>
                </a:solidFill>
                <a:latin typeface="Arial"/>
              </a:defRPr>
            </a:pPr>
            <a:r>
              <a:t>Native Google Meet Integration</a:t>
            </a:r>
          </a:p>
          <a:p>
            <a:pPr>
              <a:spcBef>
                <a:spcPts val="300"/>
              </a:spcBef>
              <a:defRPr sz="950">
                <a:solidFill>
                  <a:srgbClr val="B7C4D0"/>
                </a:solidFill>
                <a:latin typeface="Arial"/>
              </a:defRPr>
            </a:pPr>
            <a:r>
              <a:t>Eliminates third-party video licensing costs. Experts paste an authenticated Google Meet link validated server-side.</a:t>
            </a:r>
          </a:p>
          <a:p>
            <a:pPr>
              <a:spcBef>
                <a:spcPts val="1100"/>
              </a:spcBef>
              <a:defRPr sz="1200" b="1">
                <a:solidFill>
                  <a:srgbClr val="38A3E8"/>
                </a:solidFill>
                <a:latin typeface="Arial"/>
              </a:defRPr>
            </a:pPr>
            <a:r>
              <a:t>Automated Join Window Enforcement</a:t>
            </a:r>
          </a:p>
          <a:p>
            <a:pPr>
              <a:spcBef>
                <a:spcPts val="300"/>
              </a:spcBef>
              <a:defRPr sz="950">
                <a:solidFill>
                  <a:srgbClr val="B7C4D0"/>
                </a:solidFill>
                <a:latin typeface="Arial"/>
              </a:defRPr>
            </a:pPr>
            <a:r>
              <a:t>The 'Join Meeting' button unlocks 5 minutes before scheduled start time and stays active for the duration of the slot.</a:t>
            </a:r>
          </a:p>
          <a:p>
            <a:pPr>
              <a:spcBef>
                <a:spcPts val="1100"/>
              </a:spcBef>
              <a:defRPr sz="1200" b="1">
                <a:solidFill>
                  <a:srgbClr val="38A3E8"/>
                </a:solidFill>
                <a:latin typeface="Arial"/>
              </a:defRPr>
            </a:pPr>
            <a:r>
              <a:t>No-Show Protection</a:t>
            </a:r>
          </a:p>
          <a:p>
            <a:pPr>
              <a:spcBef>
                <a:spcPts val="300"/>
              </a:spcBef>
              <a:defRPr sz="950">
                <a:solidFill>
                  <a:srgbClr val="B7C4D0"/>
                </a:solidFill>
                <a:latin typeface="Arial"/>
              </a:defRPr>
            </a:pPr>
            <a:r>
              <a:t>If an agronomist fails to provide a meeting link within 5 minutes past start, the system flags a no-show and triggers an automated refund.</a:t>
            </a:r>
          </a:p>
          <a:p>
            <a:pPr>
              <a:spcBef>
                <a:spcPts val="1100"/>
              </a:spcBef>
              <a:defRPr sz="1200" b="1">
                <a:solidFill>
                  <a:srgbClr val="38A3E8"/>
                </a:solidFill>
                <a:latin typeface="Arial"/>
              </a:defRPr>
            </a:pPr>
            <a:r>
              <a:t>Post-Consultation Reviews</a:t>
            </a:r>
          </a:p>
          <a:p>
            <a:pPr>
              <a:spcBef>
                <a:spcPts val="300"/>
              </a:spcBef>
              <a:defRPr sz="950">
                <a:solidFill>
                  <a:srgbClr val="B7C4D0"/>
                </a:solidFill>
                <a:latin typeface="Arial"/>
              </a:defRPr>
            </a:pPr>
            <a:r>
              <a:t>Following completed sessions, farmers submit 1-to-5 star ratings and written reviews, building trusted regional reputations.</a:t>
            </a:r>
          </a:p>
        </p:txBody>
      </p:sp>
      <p:sp>
        <p:nvSpPr>
          <p:cNvPr id="9" name="Rounded Rectangle 8"/>
          <p:cNvSpPr/>
          <p:nvPr/>
        </p:nvSpPr>
        <p:spPr>
          <a:xfrm>
            <a:off x="5192904" y="1152144"/>
            <a:ext cx="1547110" cy="3364992"/>
          </a:xfrm>
          <a:prstGeom prst="roundRect">
            <a:avLst/>
          </a:prstGeom>
          <a:solidFill>
            <a:srgbClr val="101822"/>
          </a:solidFill>
          <a:ln w="12700">
            <a:solidFill>
              <a:srgbClr val="38A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join_enabled.png"/>
          <p:cNvPicPr>
            <a:picLocks noChangeAspect="1"/>
          </p:cNvPicPr>
          <p:nvPr/>
        </p:nvPicPr>
        <p:blipFill>
          <a:blip r:embed="rId2"/>
          <a:stretch>
            <a:fillRect/>
          </a:stretch>
        </p:blipFill>
        <p:spPr>
          <a:xfrm>
            <a:off x="5229480" y="1188720"/>
            <a:ext cx="1473958" cy="3291840"/>
          </a:xfrm>
          <a:prstGeom prst="rect">
            <a:avLst/>
          </a:prstGeom>
        </p:spPr>
      </p:pic>
      <p:sp>
        <p:nvSpPr>
          <p:cNvPr id="11" name="TextBox 10"/>
          <p:cNvSpPr txBox="1"/>
          <p:nvPr/>
        </p:nvSpPr>
        <p:spPr>
          <a:xfrm>
            <a:off x="5120640" y="4535424"/>
            <a:ext cx="1691640" cy="320040"/>
          </a:xfrm>
          <a:prstGeom prst="rect">
            <a:avLst/>
          </a:prstGeom>
          <a:noFill/>
        </p:spPr>
        <p:txBody>
          <a:bodyPr wrap="square" lIns="0" rIns="0" tIns="0" bIns="0">
            <a:spAutoFit/>
          </a:bodyPr>
          <a:lstStyle/>
          <a:p>
            <a:pPr algn="ctr">
              <a:defRPr sz="850" i="1">
                <a:solidFill>
                  <a:srgbClr val="B7C4D0"/>
                </a:solidFill>
                <a:latin typeface="Arial"/>
              </a:defRPr>
            </a:pPr>
            <a:r>
              <a:t>Join Window Enabled</a:t>
            </a:r>
          </a:p>
        </p:txBody>
      </p:sp>
      <p:sp>
        <p:nvSpPr>
          <p:cNvPr id="12" name="Rounded Rectangle 11"/>
          <p:cNvSpPr/>
          <p:nvPr/>
        </p:nvSpPr>
        <p:spPr>
          <a:xfrm>
            <a:off x="7021704" y="1152144"/>
            <a:ext cx="1547110" cy="3364992"/>
          </a:xfrm>
          <a:prstGeom prst="roundRect">
            <a:avLst/>
          </a:prstGeom>
          <a:solidFill>
            <a:srgbClr val="101822"/>
          </a:solidFill>
          <a:ln w="12700">
            <a:solidFill>
              <a:srgbClr val="38A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meeting_room.png"/>
          <p:cNvPicPr>
            <a:picLocks noChangeAspect="1"/>
          </p:cNvPicPr>
          <p:nvPr/>
        </p:nvPicPr>
        <p:blipFill>
          <a:blip r:embed="rId3"/>
          <a:stretch>
            <a:fillRect/>
          </a:stretch>
        </p:blipFill>
        <p:spPr>
          <a:xfrm>
            <a:off x="7058280" y="1188720"/>
            <a:ext cx="1473958" cy="3291840"/>
          </a:xfrm>
          <a:prstGeom prst="rect">
            <a:avLst/>
          </a:prstGeom>
        </p:spPr>
      </p:pic>
      <p:sp>
        <p:nvSpPr>
          <p:cNvPr id="14" name="TextBox 13"/>
          <p:cNvSpPr txBox="1"/>
          <p:nvPr/>
        </p:nvSpPr>
        <p:spPr>
          <a:xfrm>
            <a:off x="6949440" y="4535424"/>
            <a:ext cx="1691640" cy="320040"/>
          </a:xfrm>
          <a:prstGeom prst="rect">
            <a:avLst/>
          </a:prstGeom>
          <a:noFill/>
        </p:spPr>
        <p:txBody>
          <a:bodyPr wrap="square" lIns="0" rIns="0" tIns="0" bIns="0">
            <a:spAutoFit/>
          </a:bodyPr>
          <a:lstStyle/>
          <a:p>
            <a:pPr algn="ctr">
              <a:defRPr sz="850" i="1">
                <a:solidFill>
                  <a:srgbClr val="B7C4D0"/>
                </a:solidFill>
                <a:latin typeface="Arial"/>
              </a:defRPr>
            </a:pPr>
            <a:r>
              <a:t>Google Meet Room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B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046720" cy="228600"/>
          </a:xfrm>
          <a:prstGeom prst="rect">
            <a:avLst/>
          </a:prstGeom>
          <a:noFill/>
        </p:spPr>
        <p:txBody>
          <a:bodyPr wrap="square" lIns="0" rIns="0" tIns="0" bIns="0">
            <a:spAutoFit/>
          </a:bodyPr>
          <a:lstStyle/>
          <a:p>
            <a:pPr>
              <a:defRPr sz="950" b="1">
                <a:solidFill>
                  <a:srgbClr val="38A3E8"/>
                </a:solidFill>
                <a:latin typeface="Arial"/>
              </a:defRPr>
            </a:pPr>
            <a:r>
              <a:t>DIRECT COMMUNICATION</a:t>
            </a:r>
          </a:p>
        </p:txBody>
      </p:sp>
      <p:sp>
        <p:nvSpPr>
          <p:cNvPr id="4" name="TextBox 3"/>
          <p:cNvSpPr txBox="1"/>
          <p:nvPr/>
        </p:nvSpPr>
        <p:spPr>
          <a:xfrm>
            <a:off x="548640" y="585216"/>
            <a:ext cx="8046720" cy="502920"/>
          </a:xfrm>
          <a:prstGeom prst="rect">
            <a:avLst/>
          </a:prstGeom>
          <a:noFill/>
        </p:spPr>
        <p:txBody>
          <a:bodyPr wrap="square" lIns="0" rIns="0" tIns="0" bIns="0">
            <a:spAutoFit/>
          </a:bodyPr>
          <a:lstStyle/>
          <a:p>
            <a:pPr>
              <a:defRPr sz="2200" b="1">
                <a:solidFill>
                  <a:srgbClr val="F2F5F7"/>
                </a:solidFill>
                <a:latin typeface="Arial"/>
              </a:defRPr>
            </a:pPr>
            <a:r>
              <a:t>Private Messaging &amp; Connection Request Workflow</a:t>
            </a:r>
          </a:p>
        </p:txBody>
      </p:sp>
      <p:sp>
        <p:nvSpPr>
          <p:cNvPr id="5" name="Rectangle 4"/>
          <p:cNvSpPr/>
          <p:nvPr/>
        </p:nvSpPr>
        <p:spPr>
          <a:xfrm>
            <a:off x="548640" y="4709160"/>
            <a:ext cx="8046720" cy="13716"/>
          </a:xfrm>
          <a:prstGeom prst="rect">
            <a:avLst/>
          </a:prstGeom>
          <a:solidFill>
            <a:srgbClr val="2A3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4754880"/>
            <a:ext cx="6858000" cy="274320"/>
          </a:xfrm>
          <a:prstGeom prst="rect">
            <a:avLst/>
          </a:prstGeom>
          <a:noFill/>
        </p:spPr>
        <p:txBody>
          <a:bodyPr wrap="none" lIns="0" rIns="0" tIns="0" bIns="0">
            <a:spAutoFit/>
          </a:bodyPr>
          <a:lstStyle/>
          <a:p>
            <a:pPr>
              <a:defRPr sz="850">
                <a:solidFill>
                  <a:srgbClr val="788CA0"/>
                </a:solidFill>
                <a:latin typeface="Arial"/>
              </a:defRPr>
            </a:pPr>
            <a:r>
              <a:t>AGROCONNECT  ·  MCA PROJECT REVIEW</a:t>
            </a:r>
          </a:p>
        </p:txBody>
      </p:sp>
      <p:sp>
        <p:nvSpPr>
          <p:cNvPr id="7" name="TextBox 6"/>
          <p:cNvSpPr txBox="1"/>
          <p:nvPr/>
        </p:nvSpPr>
        <p:spPr>
          <a:xfrm>
            <a:off x="7680960" y="4754880"/>
            <a:ext cx="914400" cy="274320"/>
          </a:xfrm>
          <a:prstGeom prst="rect">
            <a:avLst/>
          </a:prstGeom>
          <a:noFill/>
        </p:spPr>
        <p:txBody>
          <a:bodyPr wrap="none" lIns="0" rIns="0" tIns="0" bIns="0">
            <a:spAutoFit/>
          </a:bodyPr>
          <a:lstStyle/>
          <a:p>
            <a:pPr algn="r">
              <a:defRPr sz="900" b="1">
                <a:solidFill>
                  <a:srgbClr val="788CA0"/>
                </a:solidFill>
                <a:latin typeface="Arial"/>
              </a:defRPr>
            </a:pPr>
            <a:r>
              <a:t>14</a:t>
            </a:r>
          </a:p>
        </p:txBody>
      </p:sp>
      <p:sp>
        <p:nvSpPr>
          <p:cNvPr id="8" name="TextBox 7"/>
          <p:cNvSpPr txBox="1"/>
          <p:nvPr/>
        </p:nvSpPr>
        <p:spPr>
          <a:xfrm>
            <a:off x="548640" y="1188720"/>
            <a:ext cx="4389120" cy="3291840"/>
          </a:xfrm>
          <a:prstGeom prst="rect">
            <a:avLst/>
          </a:prstGeom>
          <a:noFill/>
        </p:spPr>
        <p:txBody>
          <a:bodyPr wrap="square" lIns="0" rIns="0" tIns="0" bIns="0">
            <a:spAutoFit/>
          </a:bodyPr>
          <a:lstStyle/>
          <a:p>
            <a:pPr>
              <a:defRPr sz="1200" b="1">
                <a:solidFill>
                  <a:srgbClr val="2ECC71"/>
                </a:solidFill>
                <a:latin typeface="Arial"/>
              </a:defRPr>
            </a:pPr>
            <a:r>
              <a:t>Two-Tier Messaging Protection</a:t>
            </a:r>
          </a:p>
          <a:p>
            <a:pPr>
              <a:spcBef>
                <a:spcPts val="300"/>
              </a:spcBef>
              <a:defRPr sz="950">
                <a:solidFill>
                  <a:srgbClr val="B7C4D0"/>
                </a:solidFill>
                <a:latin typeface="Arial"/>
              </a:defRPr>
            </a:pPr>
            <a:r>
              <a:t>Prevents unsolicited spam. First messages from unconnected users appear in a distinct 'Message Requests' inbox.</a:t>
            </a:r>
          </a:p>
          <a:p>
            <a:pPr>
              <a:spcBef>
                <a:spcPts val="1100"/>
              </a:spcBef>
              <a:defRPr sz="1200" b="1">
                <a:solidFill>
                  <a:srgbClr val="2ECC71"/>
                </a:solidFill>
                <a:latin typeface="Arial"/>
              </a:defRPr>
            </a:pPr>
            <a:r>
              <a:t>Visual Blue Notification Dot</a:t>
            </a:r>
          </a:p>
          <a:p>
            <a:pPr>
              <a:spcBef>
                <a:spcPts val="300"/>
              </a:spcBef>
              <a:defRPr sz="950">
                <a:solidFill>
                  <a:srgbClr val="B7C4D0"/>
                </a:solidFill>
                <a:latin typeface="Arial"/>
              </a:defRPr>
            </a:pPr>
            <a:r>
              <a:t>The request icon illuminates a blue badge only when pending requests exist, disappearing once reviewed.</a:t>
            </a:r>
          </a:p>
          <a:p>
            <a:pPr>
              <a:spcBef>
                <a:spcPts val="1100"/>
              </a:spcBef>
              <a:defRPr sz="1200" b="1">
                <a:solidFill>
                  <a:srgbClr val="2ECC71"/>
                </a:solidFill>
                <a:latin typeface="Arial"/>
              </a:defRPr>
            </a:pPr>
            <a:r>
              <a:t>One-Click Accept or Decline</a:t>
            </a:r>
          </a:p>
          <a:p>
            <a:pPr>
              <a:spcBef>
                <a:spcPts val="300"/>
              </a:spcBef>
              <a:defRPr sz="950">
                <a:solidFill>
                  <a:srgbClr val="B7C4D0"/>
                </a:solidFill>
                <a:latin typeface="Arial"/>
              </a:defRPr>
            </a:pPr>
            <a:r>
              <a:t>Recipients can Accept (moving the chat to the main inbox) or Decline (silently dismissing without alerting the sender).</a:t>
            </a:r>
          </a:p>
          <a:p>
            <a:pPr>
              <a:spcBef>
                <a:spcPts val="1100"/>
              </a:spcBef>
              <a:defRPr sz="1200" b="1">
                <a:solidFill>
                  <a:srgbClr val="2ECC71"/>
                </a:solidFill>
                <a:latin typeface="Arial"/>
              </a:defRPr>
            </a:pPr>
            <a:r>
              <a:t>RPC-Governed Table Security</a:t>
            </a:r>
          </a:p>
          <a:p>
            <a:pPr>
              <a:spcBef>
                <a:spcPts val="300"/>
              </a:spcBef>
              <a:defRPr sz="950">
                <a:solidFill>
                  <a:srgbClr val="B7C4D0"/>
                </a:solidFill>
                <a:latin typeface="Arial"/>
              </a:defRPr>
            </a:pPr>
            <a:r>
              <a:t>Client apps never write directly to messaging tables. All text passes through PostgreSQL stored procedures that sanitize input and enforce length limits.</a:t>
            </a:r>
          </a:p>
        </p:txBody>
      </p:sp>
      <p:sp>
        <p:nvSpPr>
          <p:cNvPr id="9" name="Rounded Rectangle 8"/>
          <p:cNvSpPr/>
          <p:nvPr/>
        </p:nvSpPr>
        <p:spPr>
          <a:xfrm>
            <a:off x="5192904" y="1152144"/>
            <a:ext cx="1547110" cy="3364992"/>
          </a:xfrm>
          <a:prstGeom prst="roundRect">
            <a:avLst/>
          </a:prstGeom>
          <a:solidFill>
            <a:srgbClr val="101822"/>
          </a:solidFill>
          <a:ln w="12700">
            <a:solidFill>
              <a:srgbClr val="38A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at_sent.png"/>
          <p:cNvPicPr>
            <a:picLocks noChangeAspect="1"/>
          </p:cNvPicPr>
          <p:nvPr/>
        </p:nvPicPr>
        <p:blipFill>
          <a:blip r:embed="rId2"/>
          <a:stretch>
            <a:fillRect/>
          </a:stretch>
        </p:blipFill>
        <p:spPr>
          <a:xfrm>
            <a:off x="5229480" y="1188720"/>
            <a:ext cx="1473958" cy="3291840"/>
          </a:xfrm>
          <a:prstGeom prst="rect">
            <a:avLst/>
          </a:prstGeom>
        </p:spPr>
      </p:pic>
      <p:sp>
        <p:nvSpPr>
          <p:cNvPr id="11" name="TextBox 10"/>
          <p:cNvSpPr txBox="1"/>
          <p:nvPr/>
        </p:nvSpPr>
        <p:spPr>
          <a:xfrm>
            <a:off x="5120640" y="4535424"/>
            <a:ext cx="1691640" cy="320040"/>
          </a:xfrm>
          <a:prstGeom prst="rect">
            <a:avLst/>
          </a:prstGeom>
          <a:noFill/>
        </p:spPr>
        <p:txBody>
          <a:bodyPr wrap="square" lIns="0" rIns="0" tIns="0" bIns="0">
            <a:spAutoFit/>
          </a:bodyPr>
          <a:lstStyle/>
          <a:p>
            <a:pPr algn="ctr">
              <a:defRPr sz="850" i="1">
                <a:solidFill>
                  <a:srgbClr val="B7C4D0"/>
                </a:solidFill>
                <a:latin typeface="Arial"/>
              </a:defRPr>
            </a:pPr>
            <a:r>
              <a:t>Active Consultation Chat</a:t>
            </a:r>
          </a:p>
        </p:txBody>
      </p:sp>
      <p:sp>
        <p:nvSpPr>
          <p:cNvPr id="12" name="Rounded Rectangle 11"/>
          <p:cNvSpPr/>
          <p:nvPr/>
        </p:nvSpPr>
        <p:spPr>
          <a:xfrm>
            <a:off x="7021704" y="1152144"/>
            <a:ext cx="1547110" cy="3364992"/>
          </a:xfrm>
          <a:prstGeom prst="roundRect">
            <a:avLst/>
          </a:prstGeom>
          <a:solidFill>
            <a:srgbClr val="101822"/>
          </a:solidFill>
          <a:ln w="12700">
            <a:solidFill>
              <a:srgbClr val="38A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request_accepted.png"/>
          <p:cNvPicPr>
            <a:picLocks noChangeAspect="1"/>
          </p:cNvPicPr>
          <p:nvPr/>
        </p:nvPicPr>
        <p:blipFill>
          <a:blip r:embed="rId3"/>
          <a:stretch>
            <a:fillRect/>
          </a:stretch>
        </p:blipFill>
        <p:spPr>
          <a:xfrm>
            <a:off x="7058280" y="1188720"/>
            <a:ext cx="1473958" cy="3291840"/>
          </a:xfrm>
          <a:prstGeom prst="rect">
            <a:avLst/>
          </a:prstGeom>
        </p:spPr>
      </p:pic>
      <p:sp>
        <p:nvSpPr>
          <p:cNvPr id="14" name="TextBox 13"/>
          <p:cNvSpPr txBox="1"/>
          <p:nvPr/>
        </p:nvSpPr>
        <p:spPr>
          <a:xfrm>
            <a:off x="6949440" y="4535424"/>
            <a:ext cx="1691640" cy="320040"/>
          </a:xfrm>
          <a:prstGeom prst="rect">
            <a:avLst/>
          </a:prstGeom>
          <a:noFill/>
        </p:spPr>
        <p:txBody>
          <a:bodyPr wrap="square" lIns="0" rIns="0" tIns="0" bIns="0">
            <a:spAutoFit/>
          </a:bodyPr>
          <a:lstStyle/>
          <a:p>
            <a:pPr algn="ctr">
              <a:defRPr sz="850" i="1">
                <a:solidFill>
                  <a:srgbClr val="B7C4D0"/>
                </a:solidFill>
                <a:latin typeface="Arial"/>
              </a:defRPr>
            </a:pPr>
            <a:r>
              <a:t>Request Accepted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B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046720" cy="228600"/>
          </a:xfrm>
          <a:prstGeom prst="rect">
            <a:avLst/>
          </a:prstGeom>
          <a:noFill/>
        </p:spPr>
        <p:txBody>
          <a:bodyPr wrap="square" lIns="0" rIns="0" tIns="0" bIns="0">
            <a:spAutoFit/>
          </a:bodyPr>
          <a:lstStyle/>
          <a:p>
            <a:pPr>
              <a:defRPr sz="950" b="1">
                <a:solidFill>
                  <a:srgbClr val="38A3E8"/>
                </a:solidFill>
                <a:latin typeface="Arial"/>
              </a:defRPr>
            </a:pPr>
            <a:r>
              <a:t>EXPERT ONBOARDING</a:t>
            </a:r>
          </a:p>
        </p:txBody>
      </p:sp>
      <p:sp>
        <p:nvSpPr>
          <p:cNvPr id="4" name="TextBox 3"/>
          <p:cNvSpPr txBox="1"/>
          <p:nvPr/>
        </p:nvSpPr>
        <p:spPr>
          <a:xfrm>
            <a:off x="548640" y="585216"/>
            <a:ext cx="8046720" cy="502920"/>
          </a:xfrm>
          <a:prstGeom prst="rect">
            <a:avLst/>
          </a:prstGeom>
          <a:noFill/>
        </p:spPr>
        <p:txBody>
          <a:bodyPr wrap="square" lIns="0" rIns="0" tIns="0" bIns="0">
            <a:spAutoFit/>
          </a:bodyPr>
          <a:lstStyle/>
          <a:p>
            <a:pPr>
              <a:defRPr sz="2200" b="1">
                <a:solidFill>
                  <a:srgbClr val="F2F5F7"/>
                </a:solidFill>
                <a:latin typeface="Arial"/>
              </a:defRPr>
            </a:pPr>
            <a:r>
              <a:t>Agronomist Accreditation &amp; KYC Verification</a:t>
            </a:r>
          </a:p>
        </p:txBody>
      </p:sp>
      <p:sp>
        <p:nvSpPr>
          <p:cNvPr id="5" name="Rectangle 4"/>
          <p:cNvSpPr/>
          <p:nvPr/>
        </p:nvSpPr>
        <p:spPr>
          <a:xfrm>
            <a:off x="548640" y="4709160"/>
            <a:ext cx="8046720" cy="13716"/>
          </a:xfrm>
          <a:prstGeom prst="rect">
            <a:avLst/>
          </a:prstGeom>
          <a:solidFill>
            <a:srgbClr val="2A3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4754880"/>
            <a:ext cx="6858000" cy="274320"/>
          </a:xfrm>
          <a:prstGeom prst="rect">
            <a:avLst/>
          </a:prstGeom>
          <a:noFill/>
        </p:spPr>
        <p:txBody>
          <a:bodyPr wrap="none" lIns="0" rIns="0" tIns="0" bIns="0">
            <a:spAutoFit/>
          </a:bodyPr>
          <a:lstStyle/>
          <a:p>
            <a:pPr>
              <a:defRPr sz="850">
                <a:solidFill>
                  <a:srgbClr val="788CA0"/>
                </a:solidFill>
                <a:latin typeface="Arial"/>
              </a:defRPr>
            </a:pPr>
            <a:r>
              <a:t>AGROCONNECT  ·  MCA PROJECT REVIEW</a:t>
            </a:r>
          </a:p>
        </p:txBody>
      </p:sp>
      <p:sp>
        <p:nvSpPr>
          <p:cNvPr id="7" name="TextBox 6"/>
          <p:cNvSpPr txBox="1"/>
          <p:nvPr/>
        </p:nvSpPr>
        <p:spPr>
          <a:xfrm>
            <a:off x="7680960" y="4754880"/>
            <a:ext cx="914400" cy="274320"/>
          </a:xfrm>
          <a:prstGeom prst="rect">
            <a:avLst/>
          </a:prstGeom>
          <a:noFill/>
        </p:spPr>
        <p:txBody>
          <a:bodyPr wrap="none" lIns="0" rIns="0" tIns="0" bIns="0">
            <a:spAutoFit/>
          </a:bodyPr>
          <a:lstStyle/>
          <a:p>
            <a:pPr algn="r">
              <a:defRPr sz="900" b="1">
                <a:solidFill>
                  <a:srgbClr val="788CA0"/>
                </a:solidFill>
                <a:latin typeface="Arial"/>
              </a:defRPr>
            </a:pPr>
            <a:r>
              <a:t>15</a:t>
            </a:r>
          </a:p>
        </p:txBody>
      </p:sp>
      <p:sp>
        <p:nvSpPr>
          <p:cNvPr id="8" name="TextBox 7"/>
          <p:cNvSpPr txBox="1"/>
          <p:nvPr/>
        </p:nvSpPr>
        <p:spPr>
          <a:xfrm>
            <a:off x="548640" y="1188720"/>
            <a:ext cx="4389120" cy="3291840"/>
          </a:xfrm>
          <a:prstGeom prst="rect">
            <a:avLst/>
          </a:prstGeom>
          <a:noFill/>
        </p:spPr>
        <p:txBody>
          <a:bodyPr wrap="square" lIns="0" rIns="0" tIns="0" bIns="0">
            <a:spAutoFit/>
          </a:bodyPr>
          <a:lstStyle/>
          <a:p>
            <a:pPr>
              <a:defRPr sz="1200" b="1">
                <a:solidFill>
                  <a:srgbClr val="F5A623"/>
                </a:solidFill>
                <a:latin typeface="Arial"/>
              </a:defRPr>
            </a:pPr>
            <a:r>
              <a:t>Rigorous Accreditation Flow</a:t>
            </a:r>
          </a:p>
          <a:p>
            <a:pPr>
              <a:spcBef>
                <a:spcPts val="300"/>
              </a:spcBef>
              <a:defRPr sz="950">
                <a:solidFill>
                  <a:srgbClr val="B7C4D0"/>
                </a:solidFill>
                <a:latin typeface="Arial"/>
              </a:defRPr>
            </a:pPr>
            <a:r>
              <a:t>Users applying to become verified experts must submit their university degree (e.g. B.Sc Agriculture), specialization, and experience details.</a:t>
            </a:r>
          </a:p>
          <a:p>
            <a:pPr>
              <a:spcBef>
                <a:spcPts val="1100"/>
              </a:spcBef>
              <a:defRPr sz="1200" b="1">
                <a:solidFill>
                  <a:srgbClr val="F5A623"/>
                </a:solidFill>
                <a:latin typeface="Arial"/>
              </a:defRPr>
            </a:pPr>
            <a:r>
              <a:t>Mandatory Resume / CV PDF Upload</a:t>
            </a:r>
          </a:p>
          <a:p>
            <a:pPr>
              <a:spcBef>
                <a:spcPts val="300"/>
              </a:spcBef>
              <a:defRPr sz="950">
                <a:solidFill>
                  <a:srgbClr val="B7C4D0"/>
                </a:solidFill>
                <a:latin typeface="Arial"/>
              </a:defRPr>
            </a:pPr>
            <a:r>
              <a:t>Applicants upload a valid PDF CV directly into an isolated Supabase storage bucket (`expert-cvs`).</a:t>
            </a:r>
          </a:p>
          <a:p>
            <a:pPr>
              <a:spcBef>
                <a:spcPts val="1100"/>
              </a:spcBef>
              <a:defRPr sz="1200" b="1">
                <a:solidFill>
                  <a:srgbClr val="F5A623"/>
                </a:solidFill>
                <a:latin typeface="Arial"/>
              </a:defRPr>
            </a:pPr>
            <a:r>
              <a:t>Storage Access Control</a:t>
            </a:r>
          </a:p>
          <a:p>
            <a:pPr>
              <a:spcBef>
                <a:spcPts val="300"/>
              </a:spcBef>
              <a:defRPr sz="950">
                <a:solidFill>
                  <a:srgbClr val="B7C4D0"/>
                </a:solidFill>
                <a:latin typeface="Arial"/>
              </a:defRPr>
            </a:pPr>
            <a:r>
              <a:t>CV resumes are strictly confidential. Anonymous and unauthenticated access is rejected by RLS; only authorized administrators can view documents.</a:t>
            </a:r>
          </a:p>
          <a:p>
            <a:pPr>
              <a:spcBef>
                <a:spcPts val="1100"/>
              </a:spcBef>
              <a:defRPr sz="1200" b="1">
                <a:solidFill>
                  <a:srgbClr val="F5A623"/>
                </a:solidFill>
                <a:latin typeface="Arial"/>
              </a:defRPr>
            </a:pPr>
            <a:r>
              <a:t>Atomic Role Elevation</a:t>
            </a:r>
          </a:p>
          <a:p>
            <a:pPr>
              <a:spcBef>
                <a:spcPts val="300"/>
              </a:spcBef>
              <a:defRPr sz="950">
                <a:solidFill>
                  <a:srgbClr val="B7C4D0"/>
                </a:solidFill>
                <a:latin typeface="Arial"/>
              </a:defRPr>
            </a:pPr>
            <a:r>
              <a:t>Upon admin approval, the system transitions `profiles.role` to 'Expert' and creates the `experts` record in a single database transaction.</a:t>
            </a:r>
          </a:p>
        </p:txBody>
      </p:sp>
      <p:sp>
        <p:nvSpPr>
          <p:cNvPr id="9" name="Rounded Rectangle 8"/>
          <p:cNvSpPr/>
          <p:nvPr/>
        </p:nvSpPr>
        <p:spPr>
          <a:xfrm>
            <a:off x="5084064" y="1492117"/>
            <a:ext cx="1764792" cy="2685044"/>
          </a:xfrm>
          <a:prstGeom prst="roundRect">
            <a:avLst/>
          </a:prstGeom>
          <a:solidFill>
            <a:srgbClr val="101822"/>
          </a:solidFill>
          <a:ln w="12700">
            <a:solidFill>
              <a:srgbClr val="38A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kyc_cv_uploaded.png"/>
          <p:cNvPicPr>
            <a:picLocks noChangeAspect="1"/>
          </p:cNvPicPr>
          <p:nvPr/>
        </p:nvPicPr>
        <p:blipFill>
          <a:blip r:embed="rId2"/>
          <a:stretch>
            <a:fillRect/>
          </a:stretch>
        </p:blipFill>
        <p:spPr>
          <a:xfrm>
            <a:off x="5120640" y="1528693"/>
            <a:ext cx="1691640" cy="2611892"/>
          </a:xfrm>
          <a:prstGeom prst="rect">
            <a:avLst/>
          </a:prstGeom>
        </p:spPr>
      </p:pic>
      <p:sp>
        <p:nvSpPr>
          <p:cNvPr id="11" name="TextBox 10"/>
          <p:cNvSpPr txBox="1"/>
          <p:nvPr/>
        </p:nvSpPr>
        <p:spPr>
          <a:xfrm>
            <a:off x="5120640" y="4195450"/>
            <a:ext cx="1691640" cy="320040"/>
          </a:xfrm>
          <a:prstGeom prst="rect">
            <a:avLst/>
          </a:prstGeom>
          <a:noFill/>
        </p:spPr>
        <p:txBody>
          <a:bodyPr wrap="square" lIns="0" rIns="0" tIns="0" bIns="0">
            <a:spAutoFit/>
          </a:bodyPr>
          <a:lstStyle/>
          <a:p>
            <a:pPr algn="ctr">
              <a:defRPr sz="850" i="1">
                <a:solidFill>
                  <a:srgbClr val="B7C4D0"/>
                </a:solidFill>
                <a:latin typeface="Arial"/>
              </a:defRPr>
            </a:pPr>
            <a:r>
              <a:t>Expert CV Submission</a:t>
            </a:r>
          </a:p>
        </p:txBody>
      </p:sp>
      <p:sp>
        <p:nvSpPr>
          <p:cNvPr id="12" name="Rounded Rectangle 11"/>
          <p:cNvSpPr/>
          <p:nvPr/>
        </p:nvSpPr>
        <p:spPr>
          <a:xfrm>
            <a:off x="7021704" y="1152144"/>
            <a:ext cx="1547110" cy="3364992"/>
          </a:xfrm>
          <a:prstGeom prst="roundRect">
            <a:avLst/>
          </a:prstGeom>
          <a:solidFill>
            <a:srgbClr val="101822"/>
          </a:solidFill>
          <a:ln w="12700">
            <a:solidFill>
              <a:srgbClr val="38A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expert_catchup.png"/>
          <p:cNvPicPr>
            <a:picLocks noChangeAspect="1"/>
          </p:cNvPicPr>
          <p:nvPr/>
        </p:nvPicPr>
        <p:blipFill>
          <a:blip r:embed="rId3"/>
          <a:stretch>
            <a:fillRect/>
          </a:stretch>
        </p:blipFill>
        <p:spPr>
          <a:xfrm>
            <a:off x="7058280" y="1188720"/>
            <a:ext cx="1473958" cy="3291840"/>
          </a:xfrm>
          <a:prstGeom prst="rect">
            <a:avLst/>
          </a:prstGeom>
        </p:spPr>
      </p:pic>
      <p:sp>
        <p:nvSpPr>
          <p:cNvPr id="14" name="TextBox 13"/>
          <p:cNvSpPr txBox="1"/>
          <p:nvPr/>
        </p:nvSpPr>
        <p:spPr>
          <a:xfrm>
            <a:off x="6949440" y="4535424"/>
            <a:ext cx="1691640" cy="320040"/>
          </a:xfrm>
          <a:prstGeom prst="rect">
            <a:avLst/>
          </a:prstGeom>
          <a:noFill/>
        </p:spPr>
        <p:txBody>
          <a:bodyPr wrap="square" lIns="0" rIns="0" tIns="0" bIns="0">
            <a:spAutoFit/>
          </a:bodyPr>
          <a:lstStyle/>
          <a:p>
            <a:pPr algn="ctr">
              <a:defRPr sz="850" i="1">
                <a:solidFill>
                  <a:srgbClr val="B7C4D0"/>
                </a:solidFill>
                <a:latin typeface="Arial"/>
              </a:defRPr>
            </a:pPr>
            <a:r>
              <a:t>Approved Expert Console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B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046720" cy="228600"/>
          </a:xfrm>
          <a:prstGeom prst="rect">
            <a:avLst/>
          </a:prstGeom>
          <a:noFill/>
        </p:spPr>
        <p:txBody>
          <a:bodyPr wrap="square" lIns="0" rIns="0" tIns="0" bIns="0">
            <a:spAutoFit/>
          </a:bodyPr>
          <a:lstStyle/>
          <a:p>
            <a:pPr>
              <a:defRPr sz="950" b="1">
                <a:solidFill>
                  <a:srgbClr val="38A3E8"/>
                </a:solidFill>
                <a:latin typeface="Arial"/>
              </a:defRPr>
            </a:pPr>
            <a:r>
              <a:t>ADMIN OPERATIONS</a:t>
            </a:r>
          </a:p>
        </p:txBody>
      </p:sp>
      <p:sp>
        <p:nvSpPr>
          <p:cNvPr id="4" name="TextBox 3"/>
          <p:cNvSpPr txBox="1"/>
          <p:nvPr/>
        </p:nvSpPr>
        <p:spPr>
          <a:xfrm>
            <a:off x="548640" y="585216"/>
            <a:ext cx="8046720" cy="502920"/>
          </a:xfrm>
          <a:prstGeom prst="rect">
            <a:avLst/>
          </a:prstGeom>
          <a:noFill/>
        </p:spPr>
        <p:txBody>
          <a:bodyPr wrap="square" lIns="0" rIns="0" tIns="0" bIns="0">
            <a:spAutoFit/>
          </a:bodyPr>
          <a:lstStyle/>
          <a:p>
            <a:pPr>
              <a:defRPr sz="2200" b="1">
                <a:solidFill>
                  <a:srgbClr val="F2F5F7"/>
                </a:solidFill>
                <a:latin typeface="Arial"/>
              </a:defRPr>
            </a:pPr>
            <a:r>
              <a:t>Centralized Administration &amp; Platform Governance</a:t>
            </a:r>
          </a:p>
        </p:txBody>
      </p:sp>
      <p:sp>
        <p:nvSpPr>
          <p:cNvPr id="5" name="Rectangle 4"/>
          <p:cNvSpPr/>
          <p:nvPr/>
        </p:nvSpPr>
        <p:spPr>
          <a:xfrm>
            <a:off x="548640" y="4709160"/>
            <a:ext cx="8046720" cy="13716"/>
          </a:xfrm>
          <a:prstGeom prst="rect">
            <a:avLst/>
          </a:prstGeom>
          <a:solidFill>
            <a:srgbClr val="2A3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4754880"/>
            <a:ext cx="6858000" cy="274320"/>
          </a:xfrm>
          <a:prstGeom prst="rect">
            <a:avLst/>
          </a:prstGeom>
          <a:noFill/>
        </p:spPr>
        <p:txBody>
          <a:bodyPr wrap="none" lIns="0" rIns="0" tIns="0" bIns="0">
            <a:spAutoFit/>
          </a:bodyPr>
          <a:lstStyle/>
          <a:p>
            <a:pPr>
              <a:defRPr sz="850">
                <a:solidFill>
                  <a:srgbClr val="788CA0"/>
                </a:solidFill>
                <a:latin typeface="Arial"/>
              </a:defRPr>
            </a:pPr>
            <a:r>
              <a:t>AGROCONNECT  ·  MCA PROJECT REVIEW</a:t>
            </a:r>
          </a:p>
        </p:txBody>
      </p:sp>
      <p:sp>
        <p:nvSpPr>
          <p:cNvPr id="7" name="TextBox 6"/>
          <p:cNvSpPr txBox="1"/>
          <p:nvPr/>
        </p:nvSpPr>
        <p:spPr>
          <a:xfrm>
            <a:off x="7680960" y="4754880"/>
            <a:ext cx="914400" cy="274320"/>
          </a:xfrm>
          <a:prstGeom prst="rect">
            <a:avLst/>
          </a:prstGeom>
          <a:noFill/>
        </p:spPr>
        <p:txBody>
          <a:bodyPr wrap="none" lIns="0" rIns="0" tIns="0" bIns="0">
            <a:spAutoFit/>
          </a:bodyPr>
          <a:lstStyle/>
          <a:p>
            <a:pPr algn="r">
              <a:defRPr sz="900" b="1">
                <a:solidFill>
                  <a:srgbClr val="788CA0"/>
                </a:solidFill>
                <a:latin typeface="Arial"/>
              </a:defRPr>
            </a:pPr>
            <a:r>
              <a:t>16</a:t>
            </a:r>
          </a:p>
        </p:txBody>
      </p:sp>
      <p:sp>
        <p:nvSpPr>
          <p:cNvPr id="8" name="TextBox 7"/>
          <p:cNvSpPr txBox="1"/>
          <p:nvPr/>
        </p:nvSpPr>
        <p:spPr>
          <a:xfrm>
            <a:off x="548640" y="1188720"/>
            <a:ext cx="4389120" cy="3291840"/>
          </a:xfrm>
          <a:prstGeom prst="rect">
            <a:avLst/>
          </a:prstGeom>
          <a:noFill/>
        </p:spPr>
        <p:txBody>
          <a:bodyPr wrap="square" lIns="0" rIns="0" tIns="0" bIns="0">
            <a:spAutoFit/>
          </a:bodyPr>
          <a:lstStyle/>
          <a:p>
            <a:pPr>
              <a:defRPr sz="1200" b="1">
                <a:solidFill>
                  <a:srgbClr val="38A3E8"/>
                </a:solidFill>
                <a:latin typeface="Arial"/>
              </a:defRPr>
            </a:pPr>
            <a:r>
              <a:t>Dedicated Web Administration Portal</a:t>
            </a:r>
          </a:p>
          <a:p>
            <a:pPr>
              <a:spcBef>
                <a:spcPts val="300"/>
              </a:spcBef>
              <a:defRPr sz="950">
                <a:solidFill>
                  <a:srgbClr val="B7C4D0"/>
                </a:solidFill>
                <a:latin typeface="Arial"/>
              </a:defRPr>
            </a:pPr>
            <a:r>
              <a:t>Hosted independently on Render Static Cloud, providing administrators full oversight without cluttering the mobile app.</a:t>
            </a:r>
          </a:p>
          <a:p>
            <a:pPr>
              <a:spcBef>
                <a:spcPts val="1100"/>
              </a:spcBef>
              <a:defRPr sz="1200" b="1">
                <a:solidFill>
                  <a:srgbClr val="38A3E8"/>
                </a:solidFill>
                <a:latin typeface="Arial"/>
              </a:defRPr>
            </a:pPr>
            <a:r>
              <a:t>KYC Application Queue</a:t>
            </a:r>
          </a:p>
          <a:p>
            <a:pPr>
              <a:spcBef>
                <a:spcPts val="300"/>
              </a:spcBef>
              <a:defRPr sz="950">
                <a:solidFill>
                  <a:srgbClr val="B7C4D0"/>
                </a:solidFill>
                <a:latin typeface="Arial"/>
              </a:defRPr>
            </a:pPr>
            <a:r>
              <a:t>Admins review pending agronomist applications, inspect PDF CVs, and approve or reject submissions with reason notes.</a:t>
            </a:r>
          </a:p>
          <a:p>
            <a:pPr>
              <a:spcBef>
                <a:spcPts val="1100"/>
              </a:spcBef>
              <a:defRPr sz="1200" b="1">
                <a:solidFill>
                  <a:srgbClr val="38A3E8"/>
                </a:solidFill>
                <a:latin typeface="Arial"/>
              </a:defRPr>
            </a:pPr>
            <a:r>
              <a:t>Consultation Session Audits</a:t>
            </a:r>
          </a:p>
          <a:p>
            <a:pPr>
              <a:spcBef>
                <a:spcPts val="300"/>
              </a:spcBef>
              <a:defRPr sz="950">
                <a:solidFill>
                  <a:srgbClr val="B7C4D0"/>
                </a:solidFill>
                <a:latin typeface="Arial"/>
              </a:defRPr>
            </a:pPr>
            <a:r>
              <a:t>Complete ledger of all booked, completed, and cancelled meetings with full refund tracking and commission accounting.</a:t>
            </a:r>
          </a:p>
          <a:p>
            <a:pPr>
              <a:spcBef>
                <a:spcPts val="1100"/>
              </a:spcBef>
              <a:defRPr sz="1200" b="1">
                <a:solidFill>
                  <a:srgbClr val="38A3E8"/>
                </a:solidFill>
                <a:latin typeface="Arial"/>
              </a:defRPr>
            </a:pPr>
            <a:r>
              <a:t>Platform-Wide Broadcast Alerts</a:t>
            </a:r>
          </a:p>
          <a:p>
            <a:pPr>
              <a:spcBef>
                <a:spcPts val="300"/>
              </a:spcBef>
              <a:defRPr sz="950">
                <a:solidFill>
                  <a:srgbClr val="B7C4D0"/>
                </a:solidFill>
                <a:latin typeface="Arial"/>
              </a:defRPr>
            </a:pPr>
            <a:r>
              <a:t>Admins broadcast critical regional warnings (e.g. monsoon alerts, locust swarms) to all farmers or targeted districts.</a:t>
            </a:r>
          </a:p>
        </p:txBody>
      </p:sp>
      <p:sp>
        <p:nvSpPr>
          <p:cNvPr id="9" name="Rounded Rectangle 8"/>
          <p:cNvSpPr/>
          <p:nvPr/>
        </p:nvSpPr>
        <p:spPr>
          <a:xfrm>
            <a:off x="5084064" y="1712214"/>
            <a:ext cx="3547872" cy="2244852"/>
          </a:xfrm>
          <a:prstGeom prst="roundRect">
            <a:avLst/>
          </a:prstGeom>
          <a:solidFill>
            <a:srgbClr val="101822"/>
          </a:solidFill>
          <a:ln w="12700">
            <a:solidFill>
              <a:srgbClr val="38A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dmin_dashboard_login.png"/>
          <p:cNvPicPr>
            <a:picLocks noChangeAspect="1"/>
          </p:cNvPicPr>
          <p:nvPr/>
        </p:nvPicPr>
        <p:blipFill>
          <a:blip r:embed="rId2"/>
          <a:stretch>
            <a:fillRect/>
          </a:stretch>
        </p:blipFill>
        <p:spPr>
          <a:xfrm>
            <a:off x="5120640" y="1748790"/>
            <a:ext cx="3474720" cy="2171700"/>
          </a:xfrm>
          <a:prstGeom prst="rect">
            <a:avLst/>
          </a:prstGeom>
        </p:spPr>
      </p:pic>
      <p:sp>
        <p:nvSpPr>
          <p:cNvPr id="11" name="TextBox 10"/>
          <p:cNvSpPr txBox="1"/>
          <p:nvPr/>
        </p:nvSpPr>
        <p:spPr>
          <a:xfrm>
            <a:off x="5120640" y="3975354"/>
            <a:ext cx="3474720" cy="320040"/>
          </a:xfrm>
          <a:prstGeom prst="rect">
            <a:avLst/>
          </a:prstGeom>
          <a:noFill/>
        </p:spPr>
        <p:txBody>
          <a:bodyPr wrap="square" lIns="0" rIns="0" tIns="0" bIns="0">
            <a:spAutoFit/>
          </a:bodyPr>
          <a:lstStyle/>
          <a:p>
            <a:pPr algn="ctr">
              <a:defRPr sz="850" i="1">
                <a:solidFill>
                  <a:srgbClr val="B7C4D0"/>
                </a:solidFill>
                <a:latin typeface="Arial"/>
              </a:defRPr>
            </a:pPr>
            <a:r>
              <a:t>Admin Web Dashboard Interface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B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046720" cy="228600"/>
          </a:xfrm>
          <a:prstGeom prst="rect">
            <a:avLst/>
          </a:prstGeom>
          <a:noFill/>
        </p:spPr>
        <p:txBody>
          <a:bodyPr wrap="square" lIns="0" rIns="0" tIns="0" bIns="0">
            <a:spAutoFit/>
          </a:bodyPr>
          <a:lstStyle/>
          <a:p>
            <a:pPr>
              <a:defRPr sz="950" b="1">
                <a:solidFill>
                  <a:srgbClr val="38A3E8"/>
                </a:solidFill>
                <a:latin typeface="Arial"/>
              </a:defRPr>
            </a:pPr>
            <a:r>
              <a:t>END-TO-END WORKFLOW</a:t>
            </a:r>
          </a:p>
        </p:txBody>
      </p:sp>
      <p:sp>
        <p:nvSpPr>
          <p:cNvPr id="4" name="TextBox 3"/>
          <p:cNvSpPr txBox="1"/>
          <p:nvPr/>
        </p:nvSpPr>
        <p:spPr>
          <a:xfrm>
            <a:off x="548640" y="585216"/>
            <a:ext cx="8046720" cy="502920"/>
          </a:xfrm>
          <a:prstGeom prst="rect">
            <a:avLst/>
          </a:prstGeom>
          <a:noFill/>
        </p:spPr>
        <p:txBody>
          <a:bodyPr wrap="square" lIns="0" rIns="0" tIns="0" bIns="0">
            <a:spAutoFit/>
          </a:bodyPr>
          <a:lstStyle/>
          <a:p>
            <a:pPr>
              <a:defRPr sz="2200" b="1">
                <a:solidFill>
                  <a:srgbClr val="F2F5F7"/>
                </a:solidFill>
                <a:latin typeface="Arial"/>
              </a:defRPr>
            </a:pPr>
            <a:r>
              <a:t>Integrated User Journey &amp; Operational Workflow</a:t>
            </a:r>
          </a:p>
        </p:txBody>
      </p:sp>
      <p:sp>
        <p:nvSpPr>
          <p:cNvPr id="5" name="Rectangle 4"/>
          <p:cNvSpPr/>
          <p:nvPr/>
        </p:nvSpPr>
        <p:spPr>
          <a:xfrm>
            <a:off x="548640" y="4709160"/>
            <a:ext cx="8046720" cy="13716"/>
          </a:xfrm>
          <a:prstGeom prst="rect">
            <a:avLst/>
          </a:prstGeom>
          <a:solidFill>
            <a:srgbClr val="2A3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4754880"/>
            <a:ext cx="6858000" cy="274320"/>
          </a:xfrm>
          <a:prstGeom prst="rect">
            <a:avLst/>
          </a:prstGeom>
          <a:noFill/>
        </p:spPr>
        <p:txBody>
          <a:bodyPr wrap="none" lIns="0" rIns="0" tIns="0" bIns="0">
            <a:spAutoFit/>
          </a:bodyPr>
          <a:lstStyle/>
          <a:p>
            <a:pPr>
              <a:defRPr sz="850">
                <a:solidFill>
                  <a:srgbClr val="788CA0"/>
                </a:solidFill>
                <a:latin typeface="Arial"/>
              </a:defRPr>
            </a:pPr>
            <a:r>
              <a:t>AGROCONNECT  ·  MCA PROJECT REVIEW</a:t>
            </a:r>
          </a:p>
        </p:txBody>
      </p:sp>
      <p:sp>
        <p:nvSpPr>
          <p:cNvPr id="7" name="TextBox 6"/>
          <p:cNvSpPr txBox="1"/>
          <p:nvPr/>
        </p:nvSpPr>
        <p:spPr>
          <a:xfrm>
            <a:off x="7680960" y="4754880"/>
            <a:ext cx="914400" cy="274320"/>
          </a:xfrm>
          <a:prstGeom prst="rect">
            <a:avLst/>
          </a:prstGeom>
          <a:noFill/>
        </p:spPr>
        <p:txBody>
          <a:bodyPr wrap="none" lIns="0" rIns="0" tIns="0" bIns="0">
            <a:spAutoFit/>
          </a:bodyPr>
          <a:lstStyle/>
          <a:p>
            <a:pPr algn="r">
              <a:defRPr sz="900" b="1">
                <a:solidFill>
                  <a:srgbClr val="788CA0"/>
                </a:solidFill>
                <a:latin typeface="Arial"/>
              </a:defRPr>
            </a:pPr>
            <a:r>
              <a:t>17</a:t>
            </a:r>
          </a:p>
        </p:txBody>
      </p:sp>
      <p:sp>
        <p:nvSpPr>
          <p:cNvPr id="8" name="Rounded Rectangle 7"/>
          <p:cNvSpPr/>
          <p:nvPr/>
        </p:nvSpPr>
        <p:spPr>
          <a:xfrm>
            <a:off x="548640" y="1234440"/>
            <a:ext cx="8046720" cy="594360"/>
          </a:xfrm>
          <a:prstGeom prst="roundRect">
            <a:avLst/>
          </a:prstGeom>
          <a:solidFill>
            <a:srgbClr val="151F2B"/>
          </a:solidFill>
          <a:ln w="12700">
            <a:solidFill>
              <a:srgbClr val="2A3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594360" cy="594360"/>
          </a:xfrm>
          <a:prstGeom prst="rect">
            <a:avLst/>
          </a:prstGeom>
          <a:solidFill>
            <a:srgbClr val="38A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B1117"/>
                </a:solidFill>
                <a:latin typeface="Arial"/>
              </a:defRPr>
            </a:pPr>
            <a:r>
              <a:t>01</a:t>
            </a:r>
          </a:p>
        </p:txBody>
      </p:sp>
      <p:sp>
        <p:nvSpPr>
          <p:cNvPr id="10" name="TextBox 9"/>
          <p:cNvSpPr txBox="1"/>
          <p:nvPr/>
        </p:nvSpPr>
        <p:spPr>
          <a:xfrm>
            <a:off x="1280160" y="1289304"/>
            <a:ext cx="7223760" cy="484632"/>
          </a:xfrm>
          <a:prstGeom prst="rect">
            <a:avLst/>
          </a:prstGeom>
          <a:noFill/>
        </p:spPr>
        <p:txBody>
          <a:bodyPr wrap="square" lIns="0" rIns="0" tIns="0" bIns="0">
            <a:spAutoFit/>
          </a:bodyPr>
          <a:lstStyle/>
          <a:p>
            <a:pPr>
              <a:defRPr sz="1150" b="1">
                <a:solidFill>
                  <a:srgbClr val="F2F5F7"/>
                </a:solidFill>
                <a:latin typeface="Arial"/>
              </a:defRPr>
            </a:pPr>
            <a:r>
              <a:t>Step 1: Onboard &amp; Localize</a:t>
            </a:r>
          </a:p>
          <a:p>
            <a:pPr>
              <a:spcBef>
                <a:spcPts val="100"/>
              </a:spcBef>
              <a:defRPr sz="900">
                <a:solidFill>
                  <a:srgbClr val="B7C4D0"/>
                </a:solidFill>
                <a:latin typeface="Arial"/>
              </a:defRPr>
            </a:pPr>
            <a:r>
              <a:t>Farmer registers via Email or Google OAuth and picks their Kerala district (Kannur, Pathanamthitta, Idukki, Kottayam).</a:t>
            </a:r>
          </a:p>
        </p:txBody>
      </p:sp>
      <p:sp>
        <p:nvSpPr>
          <p:cNvPr id="11" name="Rounded Rectangle 10"/>
          <p:cNvSpPr/>
          <p:nvPr/>
        </p:nvSpPr>
        <p:spPr>
          <a:xfrm>
            <a:off x="548640" y="1892808"/>
            <a:ext cx="8046720" cy="594360"/>
          </a:xfrm>
          <a:prstGeom prst="roundRect">
            <a:avLst/>
          </a:prstGeom>
          <a:solidFill>
            <a:srgbClr val="151F2B"/>
          </a:solidFill>
          <a:ln w="12700">
            <a:solidFill>
              <a:srgbClr val="2A3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892808"/>
            <a:ext cx="594360" cy="59436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B1117"/>
                </a:solidFill>
                <a:latin typeface="Arial"/>
              </a:defRPr>
            </a:pPr>
            <a:r>
              <a:t>02</a:t>
            </a:r>
          </a:p>
        </p:txBody>
      </p:sp>
      <p:sp>
        <p:nvSpPr>
          <p:cNvPr id="13" name="TextBox 12"/>
          <p:cNvSpPr txBox="1"/>
          <p:nvPr/>
        </p:nvSpPr>
        <p:spPr>
          <a:xfrm>
            <a:off x="1280160" y="1947672"/>
            <a:ext cx="7223760" cy="484632"/>
          </a:xfrm>
          <a:prstGeom prst="rect">
            <a:avLst/>
          </a:prstGeom>
          <a:noFill/>
        </p:spPr>
        <p:txBody>
          <a:bodyPr wrap="square" lIns="0" rIns="0" tIns="0" bIns="0">
            <a:spAutoFit/>
          </a:bodyPr>
          <a:lstStyle/>
          <a:p>
            <a:pPr>
              <a:defRPr sz="1150" b="1">
                <a:solidFill>
                  <a:srgbClr val="F2F5F7"/>
                </a:solidFill>
                <a:latin typeface="Arial"/>
              </a:defRPr>
            </a:pPr>
            <a:r>
              <a:t>Step 2: Community &amp; AI Triage</a:t>
            </a:r>
          </a:p>
          <a:p>
            <a:pPr>
              <a:spcBef>
                <a:spcPts val="100"/>
              </a:spcBef>
              <a:defRPr sz="900">
                <a:solidFill>
                  <a:srgbClr val="B7C4D0"/>
                </a:solidFill>
                <a:latin typeface="Arial"/>
              </a:defRPr>
            </a:pPr>
            <a:r>
              <a:t>Farmer reviews local district feed for crop updates; queries PEA AI for immediate pest and soil troubleshooting.</a:t>
            </a:r>
          </a:p>
        </p:txBody>
      </p:sp>
      <p:sp>
        <p:nvSpPr>
          <p:cNvPr id="14" name="Rounded Rectangle 13"/>
          <p:cNvSpPr/>
          <p:nvPr/>
        </p:nvSpPr>
        <p:spPr>
          <a:xfrm>
            <a:off x="548640" y="2551176"/>
            <a:ext cx="8046720" cy="594360"/>
          </a:xfrm>
          <a:prstGeom prst="roundRect">
            <a:avLst/>
          </a:prstGeom>
          <a:solidFill>
            <a:srgbClr val="151F2B"/>
          </a:solidFill>
          <a:ln w="12700">
            <a:solidFill>
              <a:srgbClr val="2A3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551176"/>
            <a:ext cx="594360" cy="5943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B1117"/>
                </a:solidFill>
                <a:latin typeface="Arial"/>
              </a:defRPr>
            </a:pPr>
            <a:r>
              <a:t>03</a:t>
            </a:r>
          </a:p>
        </p:txBody>
      </p:sp>
      <p:sp>
        <p:nvSpPr>
          <p:cNvPr id="16" name="TextBox 15"/>
          <p:cNvSpPr txBox="1"/>
          <p:nvPr/>
        </p:nvSpPr>
        <p:spPr>
          <a:xfrm>
            <a:off x="1280160" y="2606040"/>
            <a:ext cx="7223760" cy="484632"/>
          </a:xfrm>
          <a:prstGeom prst="rect">
            <a:avLst/>
          </a:prstGeom>
          <a:noFill/>
        </p:spPr>
        <p:txBody>
          <a:bodyPr wrap="square" lIns="0" rIns="0" tIns="0" bIns="0">
            <a:spAutoFit/>
          </a:bodyPr>
          <a:lstStyle/>
          <a:p>
            <a:pPr>
              <a:defRPr sz="1150" b="1">
                <a:solidFill>
                  <a:srgbClr val="F2F5F7"/>
                </a:solidFill>
                <a:latin typeface="Arial"/>
              </a:defRPr>
            </a:pPr>
            <a:r>
              <a:t>Step 3: Agronomist Booking</a:t>
            </a:r>
          </a:p>
          <a:p>
            <a:pPr>
              <a:spcBef>
                <a:spcPts val="100"/>
              </a:spcBef>
              <a:defRPr sz="900">
                <a:solidFill>
                  <a:srgbClr val="B7C4D0"/>
                </a:solidFill>
                <a:latin typeface="Arial"/>
              </a:defRPr>
            </a:pPr>
            <a:r>
              <a:t>For persistent crop diseases, farmer selects a verified agronomist, reviews fee (₹500), and reserves a calendar slot.</a:t>
            </a:r>
          </a:p>
        </p:txBody>
      </p:sp>
      <p:sp>
        <p:nvSpPr>
          <p:cNvPr id="17" name="Rounded Rectangle 16"/>
          <p:cNvSpPr/>
          <p:nvPr/>
        </p:nvSpPr>
        <p:spPr>
          <a:xfrm>
            <a:off x="548640" y="3209544"/>
            <a:ext cx="8046720" cy="594360"/>
          </a:xfrm>
          <a:prstGeom prst="roundRect">
            <a:avLst/>
          </a:prstGeom>
          <a:solidFill>
            <a:srgbClr val="151F2B"/>
          </a:solidFill>
          <a:ln w="12700">
            <a:solidFill>
              <a:srgbClr val="2A3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09544"/>
            <a:ext cx="594360" cy="594360"/>
          </a:xfrm>
          <a:prstGeom prst="rect">
            <a:avLst/>
          </a:prstGeom>
          <a:solidFill>
            <a:srgbClr val="38A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B1117"/>
                </a:solidFill>
                <a:latin typeface="Arial"/>
              </a:defRPr>
            </a:pPr>
            <a:r>
              <a:t>04</a:t>
            </a:r>
          </a:p>
        </p:txBody>
      </p:sp>
      <p:sp>
        <p:nvSpPr>
          <p:cNvPr id="19" name="TextBox 18"/>
          <p:cNvSpPr txBox="1"/>
          <p:nvPr/>
        </p:nvSpPr>
        <p:spPr>
          <a:xfrm>
            <a:off x="1280160" y="3264408"/>
            <a:ext cx="7223760" cy="484632"/>
          </a:xfrm>
          <a:prstGeom prst="rect">
            <a:avLst/>
          </a:prstGeom>
          <a:noFill/>
        </p:spPr>
        <p:txBody>
          <a:bodyPr wrap="square" lIns="0" rIns="0" tIns="0" bIns="0">
            <a:spAutoFit/>
          </a:bodyPr>
          <a:lstStyle/>
          <a:p>
            <a:pPr>
              <a:defRPr sz="1150" b="1">
                <a:solidFill>
                  <a:srgbClr val="F2F5F7"/>
                </a:solidFill>
                <a:latin typeface="Arial"/>
              </a:defRPr>
            </a:pPr>
            <a:r>
              <a:t>Step 4: Secure Video Session</a:t>
            </a:r>
          </a:p>
          <a:p>
            <a:pPr>
              <a:spcBef>
                <a:spcPts val="100"/>
              </a:spcBef>
              <a:defRPr sz="900">
                <a:solidFill>
                  <a:srgbClr val="B7C4D0"/>
                </a:solidFill>
                <a:latin typeface="Arial"/>
              </a:defRPr>
            </a:pPr>
            <a:r>
              <a:t>Join button activates 5 minutes before time; farmer and agronomist conduct video call on Google Meet.</a:t>
            </a:r>
          </a:p>
        </p:txBody>
      </p:sp>
      <p:sp>
        <p:nvSpPr>
          <p:cNvPr id="20" name="Rounded Rectangle 19"/>
          <p:cNvSpPr/>
          <p:nvPr/>
        </p:nvSpPr>
        <p:spPr>
          <a:xfrm>
            <a:off x="548640" y="3867912"/>
            <a:ext cx="8046720" cy="594360"/>
          </a:xfrm>
          <a:prstGeom prst="roundRect">
            <a:avLst/>
          </a:prstGeom>
          <a:solidFill>
            <a:srgbClr val="151F2B"/>
          </a:solidFill>
          <a:ln w="12700">
            <a:solidFill>
              <a:srgbClr val="2A3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3867912"/>
            <a:ext cx="594360" cy="59436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B1117"/>
                </a:solidFill>
                <a:latin typeface="Arial"/>
              </a:defRPr>
            </a:pPr>
            <a:r>
              <a:t>05</a:t>
            </a:r>
          </a:p>
        </p:txBody>
      </p:sp>
      <p:sp>
        <p:nvSpPr>
          <p:cNvPr id="22" name="TextBox 21"/>
          <p:cNvSpPr txBox="1"/>
          <p:nvPr/>
        </p:nvSpPr>
        <p:spPr>
          <a:xfrm>
            <a:off x="1280160" y="3922776"/>
            <a:ext cx="7223760" cy="484632"/>
          </a:xfrm>
          <a:prstGeom prst="rect">
            <a:avLst/>
          </a:prstGeom>
          <a:noFill/>
        </p:spPr>
        <p:txBody>
          <a:bodyPr wrap="square" lIns="0" rIns="0" tIns="0" bIns="0">
            <a:spAutoFit/>
          </a:bodyPr>
          <a:lstStyle/>
          <a:p>
            <a:pPr>
              <a:defRPr sz="1150" b="1">
                <a:solidFill>
                  <a:srgbClr val="F2F5F7"/>
                </a:solidFill>
                <a:latin typeface="Arial"/>
              </a:defRPr>
            </a:pPr>
            <a:r>
              <a:t>Step 5: Completion &amp; Review</a:t>
            </a:r>
          </a:p>
          <a:p>
            <a:pPr>
              <a:spcBef>
                <a:spcPts val="100"/>
              </a:spcBef>
              <a:defRPr sz="900">
                <a:solidFill>
                  <a:srgbClr val="B7C4D0"/>
                </a:solidFill>
                <a:latin typeface="Arial"/>
              </a:defRPr>
            </a:pPr>
            <a:r>
              <a:t>Agronomist marks consultation complete; farmer posts feedback rating; automated ledger updates platform audit logs.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B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046720" cy="228600"/>
          </a:xfrm>
          <a:prstGeom prst="rect">
            <a:avLst/>
          </a:prstGeom>
          <a:noFill/>
        </p:spPr>
        <p:txBody>
          <a:bodyPr wrap="square" lIns="0" rIns="0" tIns="0" bIns="0">
            <a:spAutoFit/>
          </a:bodyPr>
          <a:lstStyle/>
          <a:p>
            <a:pPr>
              <a:defRPr sz="950" b="1">
                <a:solidFill>
                  <a:srgbClr val="38A3E8"/>
                </a:solidFill>
                <a:latin typeface="Arial"/>
              </a:defRPr>
            </a:pPr>
            <a:r>
              <a:t>TECHNICAL ARCHITECTURE</a:t>
            </a:r>
          </a:p>
        </p:txBody>
      </p:sp>
      <p:sp>
        <p:nvSpPr>
          <p:cNvPr id="4" name="TextBox 3"/>
          <p:cNvSpPr txBox="1"/>
          <p:nvPr/>
        </p:nvSpPr>
        <p:spPr>
          <a:xfrm>
            <a:off x="548640" y="585216"/>
            <a:ext cx="8046720" cy="502920"/>
          </a:xfrm>
          <a:prstGeom prst="rect">
            <a:avLst/>
          </a:prstGeom>
          <a:noFill/>
        </p:spPr>
        <p:txBody>
          <a:bodyPr wrap="square" lIns="0" rIns="0" tIns="0" bIns="0">
            <a:spAutoFit/>
          </a:bodyPr>
          <a:lstStyle/>
          <a:p>
            <a:pPr>
              <a:defRPr sz="2200" b="1">
                <a:solidFill>
                  <a:srgbClr val="F2F5F7"/>
                </a:solidFill>
                <a:latin typeface="Arial"/>
              </a:defRPr>
            </a:pPr>
            <a:r>
              <a:t>Full-Stack System Architecture &amp; Technology Stack</a:t>
            </a:r>
          </a:p>
        </p:txBody>
      </p:sp>
      <p:sp>
        <p:nvSpPr>
          <p:cNvPr id="5" name="Rectangle 4"/>
          <p:cNvSpPr/>
          <p:nvPr/>
        </p:nvSpPr>
        <p:spPr>
          <a:xfrm>
            <a:off x="548640" y="4709160"/>
            <a:ext cx="8046720" cy="13716"/>
          </a:xfrm>
          <a:prstGeom prst="rect">
            <a:avLst/>
          </a:prstGeom>
          <a:solidFill>
            <a:srgbClr val="2A3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4754880"/>
            <a:ext cx="6858000" cy="274320"/>
          </a:xfrm>
          <a:prstGeom prst="rect">
            <a:avLst/>
          </a:prstGeom>
          <a:noFill/>
        </p:spPr>
        <p:txBody>
          <a:bodyPr wrap="none" lIns="0" rIns="0" tIns="0" bIns="0">
            <a:spAutoFit/>
          </a:bodyPr>
          <a:lstStyle/>
          <a:p>
            <a:pPr>
              <a:defRPr sz="850">
                <a:solidFill>
                  <a:srgbClr val="788CA0"/>
                </a:solidFill>
                <a:latin typeface="Arial"/>
              </a:defRPr>
            </a:pPr>
            <a:r>
              <a:t>AGROCONNECT  ·  MCA PROJECT REVIEW</a:t>
            </a:r>
          </a:p>
        </p:txBody>
      </p:sp>
      <p:sp>
        <p:nvSpPr>
          <p:cNvPr id="7" name="TextBox 6"/>
          <p:cNvSpPr txBox="1"/>
          <p:nvPr/>
        </p:nvSpPr>
        <p:spPr>
          <a:xfrm>
            <a:off x="7680960" y="4754880"/>
            <a:ext cx="914400" cy="274320"/>
          </a:xfrm>
          <a:prstGeom prst="rect">
            <a:avLst/>
          </a:prstGeom>
          <a:noFill/>
        </p:spPr>
        <p:txBody>
          <a:bodyPr wrap="none" lIns="0" rIns="0" tIns="0" bIns="0">
            <a:spAutoFit/>
          </a:bodyPr>
          <a:lstStyle/>
          <a:p>
            <a:pPr algn="r">
              <a:defRPr sz="900" b="1">
                <a:solidFill>
                  <a:srgbClr val="788CA0"/>
                </a:solidFill>
                <a:latin typeface="Arial"/>
              </a:defRPr>
            </a:pPr>
            <a:r>
              <a:t>18</a:t>
            </a:r>
          </a:p>
        </p:txBody>
      </p:sp>
      <p:sp>
        <p:nvSpPr>
          <p:cNvPr id="8" name="Rounded Rectangle 7"/>
          <p:cNvSpPr/>
          <p:nvPr/>
        </p:nvSpPr>
        <p:spPr>
          <a:xfrm>
            <a:off x="548640" y="1234440"/>
            <a:ext cx="8046720" cy="1005840"/>
          </a:xfrm>
          <a:prstGeom prst="roundRect">
            <a:avLst/>
          </a:prstGeom>
          <a:solidFill>
            <a:srgbClr val="151F2B"/>
          </a:solidFill>
          <a:ln w="12700">
            <a:solidFill>
              <a:srgbClr val="2A3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73152" cy="100584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307592"/>
            <a:ext cx="7726680" cy="859536"/>
          </a:xfrm>
          <a:prstGeom prst="rect">
            <a:avLst/>
          </a:prstGeom>
          <a:noFill/>
        </p:spPr>
        <p:txBody>
          <a:bodyPr wrap="square" lIns="0" rIns="0" tIns="0" bIns="0">
            <a:spAutoFit/>
          </a:bodyPr>
          <a:lstStyle/>
          <a:p>
            <a:pPr>
              <a:defRPr sz="1200" b="1">
                <a:solidFill>
                  <a:srgbClr val="2ECC71"/>
                </a:solidFill>
                <a:latin typeface="Arial"/>
              </a:defRPr>
            </a:pPr>
            <a:r>
              <a:t>Client Tier (Mobile &amp; Web)</a:t>
            </a:r>
          </a:p>
          <a:p>
            <a:pPr>
              <a:spcBef>
                <a:spcPts val="100"/>
              </a:spcBef>
              <a:defRPr sz="900">
                <a:solidFill>
                  <a:srgbClr val="B7C4D0"/>
                </a:solidFill>
                <a:latin typeface="Arial"/>
              </a:defRPr>
            </a:pPr>
            <a:r>
              <a:t>• Mobile Native: Apache Cordova / Ionic Capacitor targeting Android SDK 36</a:t>
            </a:r>
          </a:p>
          <a:p>
            <a:pPr>
              <a:spcBef>
                <a:spcPts val="100"/>
              </a:spcBef>
              <a:defRPr sz="900">
                <a:solidFill>
                  <a:srgbClr val="B7C4D0"/>
                </a:solidFill>
                <a:latin typeface="Arial"/>
              </a:defRPr>
            </a:pPr>
            <a:r>
              <a:t>• Frontend Engine: React 18 SPA with Vite bundler &amp; Tailwind CSS</a:t>
            </a:r>
          </a:p>
          <a:p>
            <a:pPr>
              <a:spcBef>
                <a:spcPts val="100"/>
              </a:spcBef>
              <a:defRPr sz="900">
                <a:solidFill>
                  <a:srgbClr val="B7C4D0"/>
                </a:solidFill>
                <a:latin typeface="Arial"/>
              </a:defRPr>
            </a:pPr>
            <a:r>
              <a:t>• Design System: Custom dark mode with Material Symbols and responsive touch UI</a:t>
            </a:r>
          </a:p>
          <a:p>
            <a:pPr>
              <a:spcBef>
                <a:spcPts val="100"/>
              </a:spcBef>
              <a:defRPr sz="900">
                <a:solidFill>
                  <a:srgbClr val="B7C4D0"/>
                </a:solidFill>
                <a:latin typeface="Arial"/>
              </a:defRPr>
            </a:pPr>
            <a:r>
              <a:t>• Performance: Optimized chunking, local asset caching, offline splash handling</a:t>
            </a:r>
          </a:p>
        </p:txBody>
      </p:sp>
      <p:sp>
        <p:nvSpPr>
          <p:cNvPr id="11" name="Rounded Rectangle 10"/>
          <p:cNvSpPr/>
          <p:nvPr/>
        </p:nvSpPr>
        <p:spPr>
          <a:xfrm>
            <a:off x="548640" y="2350008"/>
            <a:ext cx="8046720" cy="1005840"/>
          </a:xfrm>
          <a:prstGeom prst="roundRect">
            <a:avLst/>
          </a:prstGeom>
          <a:solidFill>
            <a:srgbClr val="151F2B"/>
          </a:solidFill>
          <a:ln w="12700">
            <a:solidFill>
              <a:srgbClr val="2A3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350008"/>
            <a:ext cx="73152" cy="1005840"/>
          </a:xfrm>
          <a:prstGeom prst="rect">
            <a:avLst/>
          </a:prstGeom>
          <a:solidFill>
            <a:srgbClr val="38A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423160"/>
            <a:ext cx="7726680" cy="859536"/>
          </a:xfrm>
          <a:prstGeom prst="rect">
            <a:avLst/>
          </a:prstGeom>
          <a:noFill/>
        </p:spPr>
        <p:txBody>
          <a:bodyPr wrap="square" lIns="0" rIns="0" tIns="0" bIns="0">
            <a:spAutoFit/>
          </a:bodyPr>
          <a:lstStyle/>
          <a:p>
            <a:pPr>
              <a:defRPr sz="1200" b="1">
                <a:solidFill>
                  <a:srgbClr val="38A3E8"/>
                </a:solidFill>
                <a:latin typeface="Arial"/>
              </a:defRPr>
            </a:pPr>
            <a:r>
              <a:t>Cloud &amp; Backend Tier</a:t>
            </a:r>
          </a:p>
          <a:p>
            <a:pPr>
              <a:spcBef>
                <a:spcPts val="100"/>
              </a:spcBef>
              <a:defRPr sz="900">
                <a:solidFill>
                  <a:srgbClr val="B7C4D0"/>
                </a:solidFill>
                <a:latin typeface="Arial"/>
              </a:defRPr>
            </a:pPr>
            <a:r>
              <a:t>• Admin Hosting: Render Cloud Static Site with automatic SPA fallback (404.html)</a:t>
            </a:r>
          </a:p>
          <a:p>
            <a:pPr>
              <a:spcBef>
                <a:spcPts val="100"/>
              </a:spcBef>
              <a:defRPr sz="900">
                <a:solidFill>
                  <a:srgbClr val="B7C4D0"/>
                </a:solidFill>
                <a:latin typeface="Arial"/>
              </a:defRPr>
            </a:pPr>
            <a:r>
              <a:t>• Backend Platform: Supabase Cloud PaaS (PostgREST API, Realtime WebSockets)</a:t>
            </a:r>
          </a:p>
          <a:p>
            <a:pPr>
              <a:spcBef>
                <a:spcPts val="100"/>
              </a:spcBef>
              <a:defRPr sz="900">
                <a:solidFill>
                  <a:srgbClr val="B7C4D0"/>
                </a:solidFill>
                <a:latin typeface="Arial"/>
              </a:defRPr>
            </a:pPr>
            <a:r>
              <a:t>• Authentication: Supabase GoTrue API (Email/Password &amp; Google OAuth 2.0)</a:t>
            </a:r>
          </a:p>
          <a:p>
            <a:pPr>
              <a:spcBef>
                <a:spcPts val="100"/>
              </a:spcBef>
              <a:defRPr sz="900">
                <a:solidFill>
                  <a:srgbClr val="B7C4D0"/>
                </a:solidFill>
                <a:latin typeface="Arial"/>
              </a:defRPr>
            </a:pPr>
            <a:r>
              <a:t>• Media Storage: Supabase Cloud Storage (post-images, post-videos, expert-cvs)</a:t>
            </a:r>
          </a:p>
        </p:txBody>
      </p:sp>
      <p:sp>
        <p:nvSpPr>
          <p:cNvPr id="14" name="Rounded Rectangle 13"/>
          <p:cNvSpPr/>
          <p:nvPr/>
        </p:nvSpPr>
        <p:spPr>
          <a:xfrm>
            <a:off x="548640" y="3465576"/>
            <a:ext cx="8046720" cy="1005840"/>
          </a:xfrm>
          <a:prstGeom prst="roundRect">
            <a:avLst/>
          </a:prstGeom>
          <a:solidFill>
            <a:srgbClr val="151F2B"/>
          </a:solidFill>
          <a:ln w="12700">
            <a:solidFill>
              <a:srgbClr val="2A3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465576"/>
            <a:ext cx="73152" cy="100584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538728"/>
            <a:ext cx="7726680" cy="859536"/>
          </a:xfrm>
          <a:prstGeom prst="rect">
            <a:avLst/>
          </a:prstGeom>
          <a:noFill/>
        </p:spPr>
        <p:txBody>
          <a:bodyPr wrap="square" lIns="0" rIns="0" tIns="0" bIns="0">
            <a:spAutoFit/>
          </a:bodyPr>
          <a:lstStyle/>
          <a:p>
            <a:pPr>
              <a:defRPr sz="1200" b="1">
                <a:solidFill>
                  <a:srgbClr val="F5A623"/>
                </a:solidFill>
                <a:latin typeface="Arial"/>
              </a:defRPr>
            </a:pPr>
            <a:r>
              <a:t>Data &amp; Security Tier (PostgreSQL)</a:t>
            </a:r>
          </a:p>
          <a:p>
            <a:pPr>
              <a:spcBef>
                <a:spcPts val="100"/>
              </a:spcBef>
              <a:defRPr sz="900">
                <a:solidFill>
                  <a:srgbClr val="B7C4D0"/>
                </a:solidFill>
                <a:latin typeface="Arial"/>
              </a:defRPr>
            </a:pPr>
            <a:r>
              <a:t>• Database Engine: PostgreSQL hosted on Supabase Cloud (`mgreapakfchcxcrauheq`)</a:t>
            </a:r>
          </a:p>
          <a:p>
            <a:pPr>
              <a:spcBef>
                <a:spcPts val="100"/>
              </a:spcBef>
              <a:defRPr sz="900">
                <a:solidFill>
                  <a:srgbClr val="B7C4D0"/>
                </a:solidFill>
                <a:latin typeface="Arial"/>
              </a:defRPr>
            </a:pPr>
            <a:r>
              <a:t>• Logic Enforcement: PL/pgSQL stored procedures (`SECURITY DEFINER` pinned path)</a:t>
            </a:r>
          </a:p>
          <a:p>
            <a:pPr>
              <a:spcBef>
                <a:spcPts val="100"/>
              </a:spcBef>
              <a:defRPr sz="900">
                <a:solidFill>
                  <a:srgbClr val="B7C4D0"/>
                </a:solidFill>
                <a:latin typeface="Arial"/>
              </a:defRPr>
            </a:pPr>
            <a:r>
              <a:t>• Access Control: Row Level Security (RLS) policies on every table with deny-by-default</a:t>
            </a:r>
          </a:p>
          <a:p>
            <a:pPr>
              <a:spcBef>
                <a:spcPts val="100"/>
              </a:spcBef>
              <a:defRPr sz="900">
                <a:solidFill>
                  <a:srgbClr val="B7C4D0"/>
                </a:solidFill>
                <a:latin typeface="Arial"/>
              </a:defRPr>
            </a:pPr>
            <a:r>
              <a:t>• Automation: pg_cron scheduled lifecycle tasks for meeting closure &amp; reminders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B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046720" cy="228600"/>
          </a:xfrm>
          <a:prstGeom prst="rect">
            <a:avLst/>
          </a:prstGeom>
          <a:noFill/>
        </p:spPr>
        <p:txBody>
          <a:bodyPr wrap="square" lIns="0" rIns="0" tIns="0" bIns="0">
            <a:spAutoFit/>
          </a:bodyPr>
          <a:lstStyle/>
          <a:p>
            <a:pPr>
              <a:defRPr sz="950" b="1">
                <a:solidFill>
                  <a:srgbClr val="38A3E8"/>
                </a:solidFill>
                <a:latin typeface="Arial"/>
              </a:defRPr>
            </a:pPr>
            <a:r>
              <a:t>QUALITY ASSURANCE</a:t>
            </a:r>
          </a:p>
        </p:txBody>
      </p:sp>
      <p:sp>
        <p:nvSpPr>
          <p:cNvPr id="4" name="TextBox 3"/>
          <p:cNvSpPr txBox="1"/>
          <p:nvPr/>
        </p:nvSpPr>
        <p:spPr>
          <a:xfrm>
            <a:off x="548640" y="585216"/>
            <a:ext cx="8046720" cy="502920"/>
          </a:xfrm>
          <a:prstGeom prst="rect">
            <a:avLst/>
          </a:prstGeom>
          <a:noFill/>
        </p:spPr>
        <p:txBody>
          <a:bodyPr wrap="square" lIns="0" rIns="0" tIns="0" bIns="0">
            <a:spAutoFit/>
          </a:bodyPr>
          <a:lstStyle/>
          <a:p>
            <a:pPr>
              <a:defRPr sz="2200" b="1">
                <a:solidFill>
                  <a:srgbClr val="F2F5F7"/>
                </a:solidFill>
                <a:latin typeface="Arial"/>
              </a:defRPr>
            </a:pPr>
            <a:r>
              <a:t>Testing, Verification &amp; Deployment Results</a:t>
            </a:r>
          </a:p>
        </p:txBody>
      </p:sp>
      <p:sp>
        <p:nvSpPr>
          <p:cNvPr id="5" name="Rectangle 4"/>
          <p:cNvSpPr/>
          <p:nvPr/>
        </p:nvSpPr>
        <p:spPr>
          <a:xfrm>
            <a:off x="548640" y="4709160"/>
            <a:ext cx="8046720" cy="13716"/>
          </a:xfrm>
          <a:prstGeom prst="rect">
            <a:avLst/>
          </a:prstGeom>
          <a:solidFill>
            <a:srgbClr val="2A3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4754880"/>
            <a:ext cx="6858000" cy="274320"/>
          </a:xfrm>
          <a:prstGeom prst="rect">
            <a:avLst/>
          </a:prstGeom>
          <a:noFill/>
        </p:spPr>
        <p:txBody>
          <a:bodyPr wrap="none" lIns="0" rIns="0" tIns="0" bIns="0">
            <a:spAutoFit/>
          </a:bodyPr>
          <a:lstStyle/>
          <a:p>
            <a:pPr>
              <a:defRPr sz="850">
                <a:solidFill>
                  <a:srgbClr val="788CA0"/>
                </a:solidFill>
                <a:latin typeface="Arial"/>
              </a:defRPr>
            </a:pPr>
            <a:r>
              <a:t>AGROCONNECT  ·  MCA PROJECT REVIEW</a:t>
            </a:r>
          </a:p>
        </p:txBody>
      </p:sp>
      <p:sp>
        <p:nvSpPr>
          <p:cNvPr id="7" name="TextBox 6"/>
          <p:cNvSpPr txBox="1"/>
          <p:nvPr/>
        </p:nvSpPr>
        <p:spPr>
          <a:xfrm>
            <a:off x="7680960" y="4754880"/>
            <a:ext cx="914400" cy="274320"/>
          </a:xfrm>
          <a:prstGeom prst="rect">
            <a:avLst/>
          </a:prstGeom>
          <a:noFill/>
        </p:spPr>
        <p:txBody>
          <a:bodyPr wrap="none" lIns="0" rIns="0" tIns="0" bIns="0">
            <a:spAutoFit/>
          </a:bodyPr>
          <a:lstStyle/>
          <a:p>
            <a:pPr algn="r">
              <a:defRPr sz="900" b="1">
                <a:solidFill>
                  <a:srgbClr val="788CA0"/>
                </a:solidFill>
                <a:latin typeface="Arial"/>
              </a:defRPr>
            </a:pPr>
            <a:r>
              <a:t>19</a:t>
            </a:r>
          </a:p>
        </p:txBody>
      </p:sp>
      <p:sp>
        <p:nvSpPr>
          <p:cNvPr id="8" name="Rounded Rectangle 7"/>
          <p:cNvSpPr/>
          <p:nvPr/>
        </p:nvSpPr>
        <p:spPr>
          <a:xfrm>
            <a:off x="548640" y="1234440"/>
            <a:ext cx="8046720" cy="1005840"/>
          </a:xfrm>
          <a:prstGeom prst="roundRect">
            <a:avLst/>
          </a:prstGeom>
          <a:solidFill>
            <a:srgbClr val="151F2B"/>
          </a:solidFill>
          <a:ln w="12700">
            <a:solidFill>
              <a:srgbClr val="2A3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73152" cy="100584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289304"/>
            <a:ext cx="7726680" cy="896112"/>
          </a:xfrm>
          <a:prstGeom prst="rect">
            <a:avLst/>
          </a:prstGeom>
          <a:noFill/>
        </p:spPr>
        <p:txBody>
          <a:bodyPr wrap="square" lIns="0" rIns="0" tIns="0" bIns="0">
            <a:spAutoFit/>
          </a:bodyPr>
          <a:lstStyle/>
          <a:p>
            <a:pPr>
              <a:defRPr sz="1150" b="1">
                <a:solidFill>
                  <a:srgbClr val="2ECC71"/>
                </a:solidFill>
                <a:latin typeface="Arial"/>
              </a:defRPr>
            </a:pPr>
            <a:r>
              <a:t>Automated Test Suite (PGlite)   —   115 Tests Passed · 0 Failures</a:t>
            </a:r>
          </a:p>
          <a:p>
            <a:pPr>
              <a:spcBef>
                <a:spcPts val="150"/>
              </a:spcBef>
              <a:defRPr sz="880">
                <a:solidFill>
                  <a:srgbClr val="B7C4D0"/>
                </a:solidFill>
                <a:latin typeface="Arial"/>
              </a:defRPr>
            </a:pPr>
            <a:r>
              <a:t>• Unit &amp; Database Integration: Verified across 37 test suites using in-memory PostgreSQL (PGlite).</a:t>
            </a:r>
          </a:p>
          <a:p>
            <a:pPr>
              <a:spcBef>
                <a:spcPts val="150"/>
              </a:spcBef>
              <a:defRPr sz="880">
                <a:solidFill>
                  <a:srgbClr val="B7C4D0"/>
                </a:solidFill>
                <a:latin typeface="Arial"/>
              </a:defRPr>
            </a:pPr>
            <a:r>
              <a:t>• Consultation RPC Verification: Tested booking atomicity, reminder delivery, and no-show processing.</a:t>
            </a:r>
          </a:p>
          <a:p>
            <a:pPr>
              <a:spcBef>
                <a:spcPts val="150"/>
              </a:spcBef>
              <a:defRPr sz="880">
                <a:solidFill>
                  <a:srgbClr val="B7C4D0"/>
                </a:solidFill>
                <a:latin typeface="Arial"/>
              </a:defRPr>
            </a:pPr>
            <a:r>
              <a:t>• Financial Refund Reconciliations: Full 14-hour boundary test verifying exact percentage distributions.</a:t>
            </a:r>
          </a:p>
          <a:p>
            <a:pPr>
              <a:spcBef>
                <a:spcPts val="150"/>
              </a:spcBef>
              <a:defRPr sz="880">
                <a:solidFill>
                  <a:srgbClr val="B7C4D0"/>
                </a:solidFill>
                <a:latin typeface="Arial"/>
              </a:defRPr>
            </a:pPr>
            <a:r>
              <a:t>• Role Security Protections: Privilege escalation attacks, self-promotion, and anonymous reads blocked.</a:t>
            </a:r>
          </a:p>
        </p:txBody>
      </p:sp>
      <p:sp>
        <p:nvSpPr>
          <p:cNvPr id="11" name="Rounded Rectangle 10"/>
          <p:cNvSpPr/>
          <p:nvPr/>
        </p:nvSpPr>
        <p:spPr>
          <a:xfrm>
            <a:off x="548640" y="2350008"/>
            <a:ext cx="8046720" cy="1005840"/>
          </a:xfrm>
          <a:prstGeom prst="roundRect">
            <a:avLst/>
          </a:prstGeom>
          <a:solidFill>
            <a:srgbClr val="151F2B"/>
          </a:solidFill>
          <a:ln w="12700">
            <a:solidFill>
              <a:srgbClr val="2A3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350008"/>
            <a:ext cx="73152" cy="1005840"/>
          </a:xfrm>
          <a:prstGeom prst="rect">
            <a:avLst/>
          </a:prstGeom>
          <a:solidFill>
            <a:srgbClr val="38A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404872"/>
            <a:ext cx="7726680" cy="896112"/>
          </a:xfrm>
          <a:prstGeom prst="rect">
            <a:avLst/>
          </a:prstGeom>
          <a:noFill/>
        </p:spPr>
        <p:txBody>
          <a:bodyPr wrap="square" lIns="0" rIns="0" tIns="0" bIns="0">
            <a:spAutoFit/>
          </a:bodyPr>
          <a:lstStyle/>
          <a:p>
            <a:pPr>
              <a:defRPr sz="1150" b="1">
                <a:solidFill>
                  <a:srgbClr val="38A3E8"/>
                </a:solidFill>
                <a:latin typeface="Arial"/>
              </a:defRPr>
            </a:pPr>
            <a:r>
              <a:t>End-to-End Browser Tests (Playwright)   —   3 E2E Suites Passed · Chrome</a:t>
            </a:r>
          </a:p>
          <a:p>
            <a:pPr>
              <a:spcBef>
                <a:spcPts val="150"/>
              </a:spcBef>
              <a:defRPr sz="880">
                <a:solidFill>
                  <a:srgbClr val="B7C4D0"/>
                </a:solidFill>
                <a:latin typeface="Arial"/>
              </a:defRPr>
            </a:pPr>
            <a:r>
              <a:t>• Negative Authentication Checks: Verified invalid credentials return user-friendly errors without API key failure.</a:t>
            </a:r>
          </a:p>
          <a:p>
            <a:pPr>
              <a:spcBef>
                <a:spcPts val="150"/>
              </a:spcBef>
              <a:defRPr sz="880">
                <a:solidFill>
                  <a:srgbClr val="B7C4D0"/>
                </a:solidFill>
                <a:latin typeface="Arial"/>
              </a:defRPr>
            </a:pPr>
            <a:r>
              <a:t>• Publishable Key Hardening: Eliminated legacy JWT 'Invalid API key' failure on production Supabase endpoints.</a:t>
            </a:r>
          </a:p>
          <a:p>
            <a:pPr>
              <a:spcBef>
                <a:spcPts val="150"/>
              </a:spcBef>
              <a:defRPr sz="880">
                <a:solidFill>
                  <a:srgbClr val="B7C4D0"/>
                </a:solidFill>
                <a:latin typeface="Arial"/>
              </a:defRPr>
            </a:pPr>
            <a:r>
              <a:t>• Deep-Link Routing: Tested SPA 404 fallback ensuring direct route refreshes (e.g. /users) load cleanly.</a:t>
            </a:r>
          </a:p>
        </p:txBody>
      </p:sp>
      <p:sp>
        <p:nvSpPr>
          <p:cNvPr id="14" name="Rounded Rectangle 13"/>
          <p:cNvSpPr/>
          <p:nvPr/>
        </p:nvSpPr>
        <p:spPr>
          <a:xfrm>
            <a:off x="548640" y="3465576"/>
            <a:ext cx="8046720" cy="1005840"/>
          </a:xfrm>
          <a:prstGeom prst="roundRect">
            <a:avLst/>
          </a:prstGeom>
          <a:solidFill>
            <a:srgbClr val="151F2B"/>
          </a:solidFill>
          <a:ln w="12700">
            <a:solidFill>
              <a:srgbClr val="2A3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465576"/>
            <a:ext cx="73152" cy="100584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520440"/>
            <a:ext cx="7726680" cy="896112"/>
          </a:xfrm>
          <a:prstGeom prst="rect">
            <a:avLst/>
          </a:prstGeom>
          <a:noFill/>
        </p:spPr>
        <p:txBody>
          <a:bodyPr wrap="square" lIns="0" rIns="0" tIns="0" bIns="0">
            <a:spAutoFit/>
          </a:bodyPr>
          <a:lstStyle/>
          <a:p>
            <a:pPr>
              <a:defRPr sz="1150" b="1">
                <a:solidFill>
                  <a:srgbClr val="F5A623"/>
                </a:solidFill>
                <a:latin typeface="Arial"/>
              </a:defRPr>
            </a:pPr>
            <a:r>
              <a:t>Physical Device Deployment (Android 16)   —   Verified on Realme/Oppo AIN065</a:t>
            </a:r>
          </a:p>
          <a:p>
            <a:pPr>
              <a:spcBef>
                <a:spcPts val="150"/>
              </a:spcBef>
              <a:defRPr sz="880">
                <a:solidFill>
                  <a:srgbClr val="B7C4D0"/>
                </a:solidFill>
                <a:latin typeface="Arial"/>
              </a:defRPr>
            </a:pPr>
            <a:r>
              <a:t>• Package Identity: `com.agroconnect.app` · Version 1.1 (versionCode 2) built with JDK 17 &amp; Gradle 9.2.1.</a:t>
            </a:r>
          </a:p>
          <a:p>
            <a:pPr>
              <a:spcBef>
                <a:spcPts val="150"/>
              </a:spcBef>
              <a:defRPr sz="880">
                <a:solidFill>
                  <a:srgbClr val="B7C4D0"/>
                </a:solidFill>
                <a:latin typeface="Arial"/>
              </a:defRPr>
            </a:pPr>
            <a:r>
              <a:t>• Live On-Device Execution: Streamed install via ADB; zero crashes or unhandled exceptions in Android logcat.</a:t>
            </a:r>
          </a:p>
          <a:p>
            <a:pPr>
              <a:spcBef>
                <a:spcPts val="150"/>
              </a:spcBef>
              <a:defRPr sz="880">
                <a:solidFill>
                  <a:srgbClr val="B7C4D0"/>
                </a:solidFill>
                <a:latin typeface="Arial"/>
              </a:defRPr>
            </a:pPr>
            <a:r>
              <a:t>• Real Data Verification: Successfully rendered live Kerala district feed, verified expert cards, and profile views.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B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046720" cy="228600"/>
          </a:xfrm>
          <a:prstGeom prst="rect">
            <a:avLst/>
          </a:prstGeom>
          <a:noFill/>
        </p:spPr>
        <p:txBody>
          <a:bodyPr wrap="square" lIns="0" rIns="0" tIns="0" bIns="0">
            <a:spAutoFit/>
          </a:bodyPr>
          <a:lstStyle/>
          <a:p>
            <a:pPr>
              <a:defRPr sz="950" b="1">
                <a:solidFill>
                  <a:srgbClr val="38A3E8"/>
                </a:solidFill>
                <a:latin typeface="Arial"/>
              </a:defRPr>
            </a:pPr>
            <a:r>
              <a:t>CONCLUSION &amp; NEXT STEPS</a:t>
            </a:r>
          </a:p>
        </p:txBody>
      </p:sp>
      <p:sp>
        <p:nvSpPr>
          <p:cNvPr id="4" name="TextBox 3"/>
          <p:cNvSpPr txBox="1"/>
          <p:nvPr/>
        </p:nvSpPr>
        <p:spPr>
          <a:xfrm>
            <a:off x="548640" y="585216"/>
            <a:ext cx="8046720" cy="502920"/>
          </a:xfrm>
          <a:prstGeom prst="rect">
            <a:avLst/>
          </a:prstGeom>
          <a:noFill/>
        </p:spPr>
        <p:txBody>
          <a:bodyPr wrap="square" lIns="0" rIns="0" tIns="0" bIns="0">
            <a:spAutoFit/>
          </a:bodyPr>
          <a:lstStyle/>
          <a:p>
            <a:pPr>
              <a:defRPr sz="2200" b="1">
                <a:solidFill>
                  <a:srgbClr val="F2F5F7"/>
                </a:solidFill>
                <a:latin typeface="Arial"/>
              </a:defRPr>
            </a:pPr>
            <a:r>
              <a:t>Project Summary &amp; Future Horizons</a:t>
            </a:r>
          </a:p>
        </p:txBody>
      </p:sp>
      <p:sp>
        <p:nvSpPr>
          <p:cNvPr id="5" name="Rectangle 4"/>
          <p:cNvSpPr/>
          <p:nvPr/>
        </p:nvSpPr>
        <p:spPr>
          <a:xfrm>
            <a:off x="548640" y="4709160"/>
            <a:ext cx="8046720" cy="13716"/>
          </a:xfrm>
          <a:prstGeom prst="rect">
            <a:avLst/>
          </a:prstGeom>
          <a:solidFill>
            <a:srgbClr val="2A3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4754880"/>
            <a:ext cx="6858000" cy="274320"/>
          </a:xfrm>
          <a:prstGeom prst="rect">
            <a:avLst/>
          </a:prstGeom>
          <a:noFill/>
        </p:spPr>
        <p:txBody>
          <a:bodyPr wrap="none" lIns="0" rIns="0" tIns="0" bIns="0">
            <a:spAutoFit/>
          </a:bodyPr>
          <a:lstStyle/>
          <a:p>
            <a:pPr>
              <a:defRPr sz="850">
                <a:solidFill>
                  <a:srgbClr val="788CA0"/>
                </a:solidFill>
                <a:latin typeface="Arial"/>
              </a:defRPr>
            </a:pPr>
            <a:r>
              <a:t>AGROCONNECT  ·  MCA PROJECT REVIEW</a:t>
            </a:r>
          </a:p>
        </p:txBody>
      </p:sp>
      <p:sp>
        <p:nvSpPr>
          <p:cNvPr id="7" name="TextBox 6"/>
          <p:cNvSpPr txBox="1"/>
          <p:nvPr/>
        </p:nvSpPr>
        <p:spPr>
          <a:xfrm>
            <a:off x="7680960" y="4754880"/>
            <a:ext cx="914400" cy="274320"/>
          </a:xfrm>
          <a:prstGeom prst="rect">
            <a:avLst/>
          </a:prstGeom>
          <a:noFill/>
        </p:spPr>
        <p:txBody>
          <a:bodyPr wrap="none" lIns="0" rIns="0" tIns="0" bIns="0">
            <a:spAutoFit/>
          </a:bodyPr>
          <a:lstStyle/>
          <a:p>
            <a:pPr algn="r">
              <a:defRPr sz="900" b="1">
                <a:solidFill>
                  <a:srgbClr val="788CA0"/>
                </a:solidFill>
                <a:latin typeface="Arial"/>
              </a:defRPr>
            </a:pPr>
            <a:r>
              <a:t>20</a:t>
            </a:r>
          </a:p>
        </p:txBody>
      </p:sp>
      <p:sp>
        <p:nvSpPr>
          <p:cNvPr id="8" name="Rounded Rectangle 7"/>
          <p:cNvSpPr/>
          <p:nvPr/>
        </p:nvSpPr>
        <p:spPr>
          <a:xfrm>
            <a:off x="548640" y="1188720"/>
            <a:ext cx="3931920" cy="3291840"/>
          </a:xfrm>
          <a:prstGeom prst="roundRect">
            <a:avLst/>
          </a:prstGeom>
          <a:solidFill>
            <a:srgbClr val="151F2B"/>
          </a:solidFill>
          <a:ln w="12700">
            <a:solidFill>
              <a:srgbClr val="2A3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325880"/>
            <a:ext cx="3566160" cy="3017520"/>
          </a:xfrm>
          <a:prstGeom prst="rect">
            <a:avLst/>
          </a:prstGeom>
          <a:noFill/>
        </p:spPr>
        <p:txBody>
          <a:bodyPr wrap="square" lIns="0" rIns="0" tIns="0" bIns="0">
            <a:spAutoFit/>
          </a:bodyPr>
          <a:lstStyle/>
          <a:p>
            <a:pPr>
              <a:defRPr sz="1300" b="1">
                <a:solidFill>
                  <a:srgbClr val="38A3E8"/>
                </a:solidFill>
                <a:latin typeface="Arial"/>
              </a:defRPr>
            </a:pPr>
            <a:r>
              <a:t>Planned Future Enhancements</a:t>
            </a:r>
          </a:p>
          <a:p>
            <a:pPr>
              <a:spcBef>
                <a:spcPts val="600"/>
              </a:spcBef>
              <a:defRPr sz="1000" b="1">
                <a:solidFill>
                  <a:srgbClr val="F2F5F7"/>
                </a:solidFill>
                <a:latin typeface="Arial"/>
              </a:defRPr>
            </a:pPr>
            <a:r>
              <a:t>• Computer Vision Model Integration</a:t>
            </a:r>
          </a:p>
          <a:p>
            <a:pPr>
              <a:spcBef>
                <a:spcPts val="100"/>
              </a:spcBef>
              <a:defRPr sz="880">
                <a:solidFill>
                  <a:srgbClr val="B7C4D0"/>
                </a:solidFill>
                <a:latin typeface="Arial"/>
              </a:defRPr>
            </a:pPr>
            <a:r>
              <a:t>Deploy on-device TensorFlow Lite models for offline leaf disease classification.</a:t>
            </a:r>
          </a:p>
          <a:p>
            <a:pPr>
              <a:spcBef>
                <a:spcPts val="600"/>
              </a:spcBef>
              <a:defRPr sz="1000" b="1">
                <a:solidFill>
                  <a:srgbClr val="F2F5F7"/>
                </a:solidFill>
                <a:latin typeface="Arial"/>
              </a:defRPr>
            </a:pPr>
            <a:r>
              <a:t>• Multilingual Vernacular Support</a:t>
            </a:r>
          </a:p>
          <a:p>
            <a:pPr>
              <a:spcBef>
                <a:spcPts val="100"/>
              </a:spcBef>
              <a:defRPr sz="880">
                <a:solidFill>
                  <a:srgbClr val="B7C4D0"/>
                </a:solidFill>
                <a:latin typeface="Arial"/>
              </a:defRPr>
            </a:pPr>
            <a:r>
              <a:t>Voice-assisted query input and audio playback in Malayalam for older farmers.</a:t>
            </a:r>
          </a:p>
          <a:p>
            <a:pPr>
              <a:spcBef>
                <a:spcPts val="600"/>
              </a:spcBef>
              <a:defRPr sz="1000" b="1">
                <a:solidFill>
                  <a:srgbClr val="F2F5F7"/>
                </a:solidFill>
                <a:latin typeface="Arial"/>
              </a:defRPr>
            </a:pPr>
            <a:r>
              <a:t>• IoT Telematics Integration</a:t>
            </a:r>
          </a:p>
          <a:p>
            <a:pPr>
              <a:spcBef>
                <a:spcPts val="100"/>
              </a:spcBef>
              <a:defRPr sz="880">
                <a:solidFill>
                  <a:srgbClr val="B7C4D0"/>
                </a:solidFill>
                <a:latin typeface="Arial"/>
              </a:defRPr>
            </a:pPr>
            <a:r>
              <a:t>Connect soil moisture and NPK telemetry sensors for proactive irrigation scheduling.</a:t>
            </a:r>
          </a:p>
          <a:p>
            <a:pPr>
              <a:spcBef>
                <a:spcPts val="600"/>
              </a:spcBef>
              <a:defRPr sz="1000" b="1">
                <a:solidFill>
                  <a:srgbClr val="F2F5F7"/>
                </a:solidFill>
                <a:latin typeface="Arial"/>
              </a:defRPr>
            </a:pPr>
            <a:r>
              <a:t>• Payment Gateway Onboarding</a:t>
            </a:r>
          </a:p>
          <a:p>
            <a:pPr>
              <a:spcBef>
                <a:spcPts val="100"/>
              </a:spcBef>
              <a:defRPr sz="880">
                <a:solidFill>
                  <a:srgbClr val="B7C4D0"/>
                </a:solidFill>
                <a:latin typeface="Arial"/>
              </a:defRPr>
            </a:pPr>
            <a:r>
              <a:t>Integrate live Razorpay/UPI gateway to transition demo escrow into commercial production.</a:t>
            </a:r>
          </a:p>
        </p:txBody>
      </p:sp>
      <p:sp>
        <p:nvSpPr>
          <p:cNvPr id="10" name="Rounded Rectangle 9"/>
          <p:cNvSpPr/>
          <p:nvPr/>
        </p:nvSpPr>
        <p:spPr>
          <a:xfrm>
            <a:off x="4663440" y="1188720"/>
            <a:ext cx="3931920" cy="3291840"/>
          </a:xfrm>
          <a:prstGeom prst="roundRect">
            <a:avLst/>
          </a:prstGeom>
          <a:solidFill>
            <a:srgbClr val="101A26"/>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46320" y="1463040"/>
            <a:ext cx="3566160" cy="2743200"/>
          </a:xfrm>
          <a:prstGeom prst="rect">
            <a:avLst/>
          </a:prstGeom>
          <a:noFill/>
        </p:spPr>
        <p:txBody>
          <a:bodyPr wrap="square" lIns="0" rIns="0" tIns="0" bIns="0">
            <a:spAutoFit/>
          </a:bodyPr>
          <a:lstStyle/>
          <a:p>
            <a:pPr algn="ctr">
              <a:defRPr sz="2800" b="1">
                <a:solidFill>
                  <a:srgbClr val="2ECC71"/>
                </a:solidFill>
                <a:latin typeface="Arial"/>
              </a:defRPr>
            </a:pPr>
            <a:r>
              <a:t>Thank You!</a:t>
            </a:r>
          </a:p>
          <a:p>
            <a:pPr algn="ctr">
              <a:spcBef>
                <a:spcPts val="1200"/>
              </a:spcBef>
              <a:defRPr sz="1000">
                <a:solidFill>
                  <a:srgbClr val="F2F5F7"/>
                </a:solidFill>
                <a:latin typeface="Arial"/>
              </a:defRPr>
            </a:pPr>
            <a:r>
              <a:t>AgroConnect demonstrates how modern cloud platforms, regional localization, and AI assistance can modernize rural agriculture.</a:t>
            </a:r>
          </a:p>
          <a:p>
            <a:pPr algn="ctr">
              <a:spcBef>
                <a:spcPts val="1600"/>
              </a:spcBef>
              <a:defRPr sz="1400" b="1">
                <a:solidFill>
                  <a:srgbClr val="F2F5F7"/>
                </a:solidFill>
                <a:latin typeface="Arial"/>
              </a:defRPr>
            </a:pPr>
            <a:r>
              <a:t>Prince Abraham Shaji</a:t>
            </a:r>
          </a:p>
          <a:p>
            <a:pPr algn="ctr">
              <a:spcBef>
                <a:spcPts val="200"/>
              </a:spcBef>
              <a:defRPr sz="950">
                <a:solidFill>
                  <a:srgbClr val="788CA0"/>
                </a:solidFill>
                <a:latin typeface="Arial"/>
              </a:defRPr>
            </a:pPr>
            <a:r>
              <a:t>Reg. No: AJC25MCA-2051</a:t>
            </a:r>
            <a:br/>
            <a:r>
              <a:t>Amal Jyothi College of Engineering</a:t>
            </a:r>
            <a:br/>
            <a:r>
              <a:t>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